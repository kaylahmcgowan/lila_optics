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1d7768e90a4040" /><Relationship Type="http://schemas.openxmlformats.org/officeDocument/2006/relationships/extended-properties" Target="/docProps/app.xml" Id="R2bc23ac630234482" /><Relationship Type="http://schemas.openxmlformats.org/officeDocument/2006/relationships/officeDocument" Target="/ppt/presentation.xml" Id="Rc3ddaa2b80f04297" /></Relationships>
</file>

<file path=ppt/presentation.xml><?xml version="1.0" encoding="utf-8"?>
<p:presentation xmlns:p="http://schemas.openxmlformats.org/presentationml/2006/main">
  <p:sldMasterIdLst>
    <p:sldMasterId xmlns:r="http://schemas.openxmlformats.org/officeDocument/2006/relationships" id="2147483648" r:id="R5c94c3b755c34b17"/>
  </p:sldMasterIdLst>
  <p:notesMasterIdLst>
    <p:notesMasterId xmlns:r="http://schemas.openxmlformats.org/officeDocument/2006/relationships" r:id="Ra52da2f683714ee3"/>
  </p:notesMasterIdLst>
  <p:sldIdLst>
    <p:sldId xmlns:r="http://schemas.openxmlformats.org/officeDocument/2006/relationships" id="256" r:id="R2e2c1b08e8e64191"/>
    <p:sldId xmlns:r="http://schemas.openxmlformats.org/officeDocument/2006/relationships" id="257" r:id="R9749233b68c549ae"/>
    <p:sldId xmlns:r="http://schemas.openxmlformats.org/officeDocument/2006/relationships" id="258" r:id="Raa4a27d30b864ed9"/>
    <p:sldId xmlns:r="http://schemas.openxmlformats.org/officeDocument/2006/relationships" id="259" r:id="Rbeb5ac5bbe0f4f74"/>
    <p:sldId xmlns:r="http://schemas.openxmlformats.org/officeDocument/2006/relationships" id="260" r:id="R20ce4b545ca74aef"/>
    <p:sldId xmlns:r="http://schemas.openxmlformats.org/officeDocument/2006/relationships" id="261" r:id="R80ae33a1bc77444a"/>
    <p:sldId xmlns:r="http://schemas.openxmlformats.org/officeDocument/2006/relationships" id="262" r:id="Rd2798c71254343f5"/>
    <p:sldId xmlns:r="http://schemas.openxmlformats.org/officeDocument/2006/relationships" id="263" r:id="Rd8fe10d995d54027"/>
    <p:sldId xmlns:r="http://schemas.openxmlformats.org/officeDocument/2006/relationships" id="264" r:id="Rfd67a17e70ff423b"/>
    <p:sldId xmlns:r="http://schemas.openxmlformats.org/officeDocument/2006/relationships" id="265" r:id="R594e3d8e4a6b4ea2"/>
    <p:sldId xmlns:r="http://schemas.openxmlformats.org/officeDocument/2006/relationships" id="266" r:id="R0d1fe0276a3a4fe9"/>
    <p:sldId xmlns:r="http://schemas.openxmlformats.org/officeDocument/2006/relationships" id="267" r:id="R478150d6d4854334"/>
    <p:sldId xmlns:r="http://schemas.openxmlformats.org/officeDocument/2006/relationships" id="268" r:id="R5a7d8b7f62594588"/>
    <p:sldId xmlns:r="http://schemas.openxmlformats.org/officeDocument/2006/relationships" id="269" r:id="Ra45093111e4a428f"/>
    <p:sldId xmlns:r="http://schemas.openxmlformats.org/officeDocument/2006/relationships" id="270" r:id="R0354c9d6cbb24c9f"/>
    <p:sldId xmlns:r="http://schemas.openxmlformats.org/officeDocument/2006/relationships" id="271" r:id="Rb20e19d95be441bc"/>
    <p:sldId xmlns:r="http://schemas.openxmlformats.org/officeDocument/2006/relationships" id="272" r:id="R8688eec90358402d"/>
    <p:sldId xmlns:r="http://schemas.openxmlformats.org/officeDocument/2006/relationships" id="273" r:id="R8d517eed870e4ae0"/>
    <p:sldId xmlns:r="http://schemas.openxmlformats.org/officeDocument/2006/relationships" id="274" r:id="Rd7aef0eb80bc4d07"/>
    <p:sldId xmlns:r="http://schemas.openxmlformats.org/officeDocument/2006/relationships" id="275" r:id="R75d019c8d9f741b8"/>
    <p:sldId xmlns:r="http://schemas.openxmlformats.org/officeDocument/2006/relationships" id="276" r:id="Rd70d348b78774544"/>
    <p:sldId xmlns:r="http://schemas.openxmlformats.org/officeDocument/2006/relationships" id="277" r:id="Re3afd769cdef4704"/>
    <p:sldId xmlns:r="http://schemas.openxmlformats.org/officeDocument/2006/relationships" id="278" r:id="R25b093f5b2fe42c7"/>
    <p:sldId xmlns:r="http://schemas.openxmlformats.org/officeDocument/2006/relationships" id="279" r:id="Rcba39b85145147be"/>
    <p:sldId xmlns:r="http://schemas.openxmlformats.org/officeDocument/2006/relationships" id="280" r:id="R430c2773588345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da776c997249da" /><Relationship Type="http://schemas.openxmlformats.org/officeDocument/2006/relationships/slideMaster" Target="/ppt/slideMasters/slideMaster1.xml" Id="R5c94c3b755c34b17" /><Relationship Type="http://schemas.openxmlformats.org/officeDocument/2006/relationships/notesMaster" Target="/ppt/notesMasters/notesMaster1.xml" Id="Ra52da2f683714ee3" /><Relationship Type="http://schemas.openxmlformats.org/officeDocument/2006/relationships/presProps" Target="/ppt/presProps.xml" Id="R34fb42739def4ffb" /><Relationship Type="http://schemas.openxmlformats.org/officeDocument/2006/relationships/tableStyles" Target="/ppt/tableStyles.xml" Id="R6fe5afe52411432b" /><Relationship Type="http://schemas.openxmlformats.org/officeDocument/2006/relationships/slide" Target="/ppt/slides/slide1.xml" Id="R2e2c1b08e8e64191" /><Relationship Type="http://schemas.openxmlformats.org/officeDocument/2006/relationships/slide" Target="/ppt/slides/slide2.xml" Id="R9749233b68c549ae" /><Relationship Type="http://schemas.openxmlformats.org/officeDocument/2006/relationships/slide" Target="/ppt/slides/slide3.xml" Id="Raa4a27d30b864ed9" /><Relationship Type="http://schemas.openxmlformats.org/officeDocument/2006/relationships/slide" Target="/ppt/slides/slide4.xml" Id="Rbeb5ac5bbe0f4f74" /><Relationship Type="http://schemas.openxmlformats.org/officeDocument/2006/relationships/slide" Target="/ppt/slides/slide5.xml" Id="R20ce4b545ca74aef" /><Relationship Type="http://schemas.openxmlformats.org/officeDocument/2006/relationships/slide" Target="/ppt/slides/slide6.xml" Id="R80ae33a1bc77444a" /><Relationship Type="http://schemas.openxmlformats.org/officeDocument/2006/relationships/slide" Target="/ppt/slides/slide7.xml" Id="Rd2798c71254343f5" /><Relationship Type="http://schemas.openxmlformats.org/officeDocument/2006/relationships/slide" Target="/ppt/slides/slide8.xml" Id="Rd8fe10d995d54027" /><Relationship Type="http://schemas.openxmlformats.org/officeDocument/2006/relationships/slide" Target="/ppt/slides/slide9.xml" Id="Rfd67a17e70ff423b" /><Relationship Type="http://schemas.openxmlformats.org/officeDocument/2006/relationships/slide" Target="/ppt/slides/slide10.xml" Id="R594e3d8e4a6b4ea2" /><Relationship Type="http://schemas.openxmlformats.org/officeDocument/2006/relationships/slide" Target="/ppt/slides/slide11.xml" Id="R0d1fe0276a3a4fe9" /><Relationship Type="http://schemas.openxmlformats.org/officeDocument/2006/relationships/slide" Target="/ppt/slides/slide12.xml" Id="R478150d6d4854334" /><Relationship Type="http://schemas.openxmlformats.org/officeDocument/2006/relationships/slide" Target="/ppt/slides/slide13.xml" Id="R5a7d8b7f62594588" /><Relationship Type="http://schemas.openxmlformats.org/officeDocument/2006/relationships/slide" Target="/ppt/slides/slide14.xml" Id="Ra45093111e4a428f" /><Relationship Type="http://schemas.openxmlformats.org/officeDocument/2006/relationships/slide" Target="/ppt/slides/slide15.xml" Id="R0354c9d6cbb24c9f" /><Relationship Type="http://schemas.openxmlformats.org/officeDocument/2006/relationships/slide" Target="/ppt/slides/slide16.xml" Id="Rb20e19d95be441bc" /><Relationship Type="http://schemas.openxmlformats.org/officeDocument/2006/relationships/slide" Target="/ppt/slides/slide17.xml" Id="R8688eec90358402d" /><Relationship Type="http://schemas.openxmlformats.org/officeDocument/2006/relationships/slide" Target="/ppt/slides/slide18.xml" Id="R8d517eed870e4ae0" /><Relationship Type="http://schemas.openxmlformats.org/officeDocument/2006/relationships/slide" Target="/ppt/slides/slide19.xml" Id="Rd7aef0eb80bc4d07" /><Relationship Type="http://schemas.openxmlformats.org/officeDocument/2006/relationships/slide" Target="/ppt/slides/slide20.xml" Id="R75d019c8d9f741b8" /><Relationship Type="http://schemas.openxmlformats.org/officeDocument/2006/relationships/slide" Target="/ppt/slides/slide21.xml" Id="Rd70d348b78774544" /><Relationship Type="http://schemas.openxmlformats.org/officeDocument/2006/relationships/slide" Target="/ppt/slides/slide22.xml" Id="Re3afd769cdef4704" /><Relationship Type="http://schemas.openxmlformats.org/officeDocument/2006/relationships/slide" Target="/ppt/slides/slide23.xml" Id="R25b093f5b2fe42c7" /><Relationship Type="http://schemas.openxmlformats.org/officeDocument/2006/relationships/slide" Target="/ppt/slides/slide24.xml" Id="Rcba39b85145147be" /><Relationship Type="http://schemas.openxmlformats.org/officeDocument/2006/relationships/slide" Target="/ppt/slides/slide25.xml" Id="R430c2773588345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55d37f1f8844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a4b196b0de4069" /><Relationship Type="http://schemas.openxmlformats.org/officeDocument/2006/relationships/notesMaster" Target="/ppt/notesMasters/notesMaster1.xml" Id="R05f32acc9c0642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7f32a5ed6647c5" /><Relationship Type="http://schemas.openxmlformats.org/officeDocument/2006/relationships/notesMaster" Target="/ppt/notesMasters/notesMaster1.xml" Id="Rbf1e78e459a849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f3eb2b15ee46fa" /><Relationship Type="http://schemas.openxmlformats.org/officeDocument/2006/relationships/notesMaster" Target="/ppt/notesMasters/notesMaster1.xml" Id="R940c069493a943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b5f9a79cca44bb" /><Relationship Type="http://schemas.openxmlformats.org/officeDocument/2006/relationships/notesMaster" Target="/ppt/notesMasters/notesMaster1.xml" Id="Re700a2e91e9a41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164772e4784d7a" /><Relationship Type="http://schemas.openxmlformats.org/officeDocument/2006/relationships/notesMaster" Target="/ppt/notesMasters/notesMaster1.xml" Id="R5be9916f06d34b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af3915ca2644ac" /><Relationship Type="http://schemas.openxmlformats.org/officeDocument/2006/relationships/notesMaster" Target="/ppt/notesMasters/notesMaster1.xml" Id="Rabd3b5dac5d649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156100c6484d85" /><Relationship Type="http://schemas.openxmlformats.org/officeDocument/2006/relationships/notesMaster" Target="/ppt/notesMasters/notesMaster1.xml" Id="R07b3ec70398f4f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d5ebc2ab7648e1" /><Relationship Type="http://schemas.openxmlformats.org/officeDocument/2006/relationships/notesMaster" Target="/ppt/notesMasters/notesMaster1.xml" Id="R42eab76c5e4640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2f7adeed594ca2" /><Relationship Type="http://schemas.openxmlformats.org/officeDocument/2006/relationships/notesMaster" Target="/ppt/notesMasters/notesMaster1.xml" Id="R7499040c787e4f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aa5dd72102497c" /><Relationship Type="http://schemas.openxmlformats.org/officeDocument/2006/relationships/notesMaster" Target="/ppt/notesMasters/notesMaster1.xml" Id="R4de0ec8f21e84c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d893fec1554f8b" /><Relationship Type="http://schemas.openxmlformats.org/officeDocument/2006/relationships/notesMaster" Target="/ppt/notesMasters/notesMaster1.xml" Id="R105aa980edd74c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870c3be6484c32" /><Relationship Type="http://schemas.openxmlformats.org/officeDocument/2006/relationships/notesMaster" Target="/ppt/notesMasters/notesMaster1.xml" Id="R3f29a147d86e4a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188f7e7da24201" /><Relationship Type="http://schemas.openxmlformats.org/officeDocument/2006/relationships/notesMaster" Target="/ppt/notesMasters/notesMaster1.xml" Id="Re61dd4b61ad849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c01d5e325c4f0a" /><Relationship Type="http://schemas.openxmlformats.org/officeDocument/2006/relationships/notesMaster" Target="/ppt/notesMasters/notesMaster1.xml" Id="Rc5d06752b39947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8fdccb90e34460" /><Relationship Type="http://schemas.openxmlformats.org/officeDocument/2006/relationships/notesMaster" Target="/ppt/notesMasters/notesMaster1.xml" Id="R03300b9d7f7c4e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959ab4d92d4128" /><Relationship Type="http://schemas.openxmlformats.org/officeDocument/2006/relationships/notesMaster" Target="/ppt/notesMasters/notesMaster1.xml" Id="Rd3bb18a2394545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80bf9a91d247ac" /><Relationship Type="http://schemas.openxmlformats.org/officeDocument/2006/relationships/notesMaster" Target="/ppt/notesMasters/notesMaster1.xml" Id="Rbf9409d7b7f34c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1d7d14741340f4" /><Relationship Type="http://schemas.openxmlformats.org/officeDocument/2006/relationships/notesMaster" Target="/ppt/notesMasters/notesMaster1.xml" Id="Rf36f5fe7e72c4a0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d6b19ba8634d48" /><Relationship Type="http://schemas.openxmlformats.org/officeDocument/2006/relationships/notesMaster" Target="/ppt/notesMasters/notesMaster1.xml" Id="R6aa7d755a2e847f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c9964223454153" /><Relationship Type="http://schemas.openxmlformats.org/officeDocument/2006/relationships/notesMaster" Target="/ppt/notesMasters/notesMaster1.xml" Id="Raa14009dba2d44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356dd62239e46b9" /><Relationship Type="http://schemas.openxmlformats.org/officeDocument/2006/relationships/notesMaster" Target="/ppt/notesMasters/notesMaster1.xml" Id="Rcc51280d165f493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e8bc8d5bffb411d" /><Relationship Type="http://schemas.openxmlformats.org/officeDocument/2006/relationships/notesMaster" Target="/ppt/notesMasters/notesMaster1.xml" Id="R0c62aaf90270410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e456419cfe9475b" /><Relationship Type="http://schemas.openxmlformats.org/officeDocument/2006/relationships/notesMaster" Target="/ppt/notesMasters/notesMaster1.xml" Id="Re05bf2c9e890492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a55df032de847f6" /><Relationship Type="http://schemas.openxmlformats.org/officeDocument/2006/relationships/notesMaster" Target="/ppt/notesMasters/notesMaster1.xml" Id="R3e16107b915a409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a54e5640b044b14" /><Relationship Type="http://schemas.openxmlformats.org/officeDocument/2006/relationships/notesMaster" Target="/ppt/notesMasters/notesMaster1.xml" Id="R8725110b796d42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Reusable weekly research deck. Update the date. Slides 2–7 establish project context and reference work. Duplicate slides 8–15 as a dated weekly block. Slide 16 contains the update workflow and references. Existing figures come from the supplied PDF and do not represent new calculations.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iLILA Optical Sensitivity Project Plan, current teal revision, and Kaylah’s clarified project objective in this conversation. Seismic coupling is a primary workstream.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August 2026 LILA Templeton proposal and current project plan. Supplied September 15 Optical Modeling Overview PDF, slides 3 and 9, distinguishes 1064 nm mission/noise-study assumptions from the 1550 nm bench rerun. Excluding arm cavities does not exclude separately specified laser-stabilization or mode-cleaning cavities.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Presentation - Optical Modeling Overview.pdf, Fintrace model slides. Figure reused as a reference image, not regenerated. The attached fixed Python runner calls simple_michelson.yaml, which was not among the attachments. Recover the matching YAML before reproducing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extracted X-arm trace from Presentation - Optical Modeling Overview.pdf. The X/Y plot legends refer to transverse beam components, not the two interferometer arms. The supplied run_michelson_gouy_fixed(1).py requests beamsize, gouy, curvature and astigmatic differences for MX and MY traces. This slide does not claim a fresh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Presentation - Optical Modeling Overview.pdf, preliminary noise study. Original figure retained as an image. The Apollo instrument-floor-derived curve is not a measurement of the lunar background. The illustrated subtraction residual is not demonstrated performance. The plotted component assumptions do not establish a closed seismic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current project plan. These are ordered research stages, not fixed deadlines. Seismic input discovery and coupling mapping begin in Stage 1 alongside optical work. CAD follows sufficiently stable beam geometry. Gaussian modes with Remmy, Volker’s optical review, Teviet’s response/noise reference, potential dust work with Phoenix, and Remington’s APRA inputs remain part of the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Duplicate slides 8–15 for each week and preserve previous dated blocks. Use only the slides relevant to that meeting. Keep plot source paths, code version, configuration version and references in speaker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Weekly template. Duplicate this slide and replace bracketed fields. Delete the plot placeholder and insert a PNG or SVG without stretching it. Keep axis labels, units and legend readable. Record run date, configuration file, code version, parameter changes and source data here. No new result is asserted by this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weekly register. Duplicate rows or split into more slides when needed. For each coupling record input units, ASD or PSD convention, output calibration, frequency dependence, source, correlation assumptions and uncertainty. Keep cross-spectra for correlated sources. This is an inventory to complete, not a claim that all terms have been modeled.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Weekly template. Duplicate this slide and replace bracketed fields. Delete the plot placeholder and insert a PNG or SVG without stretching it. Keep axis labels, units and legend readable. Record run date, configuration file, code version, parameter changes and source data here. No new result is asserted by this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uncertainty slide. Model translation and rotation at corner and end stations with cross-spectra. Propagate through regolith, anchors, supports and optical transfer functions. Keep GW-driven lunar deformation in the signal response. Treat quake-excited modes according to the science channel. Include sensor noise and signal-preservation checks before claiming subtraction. Source: project plan and Creighton et al., https://arxiv.org/abs/2508.18437.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Weekly template. Duplicate this slide and replace bracketed fields. Delete the plot placeholder and insert a PNG or SVG without stretching it. Keep axis labels, units and legend readable. Record run date, configuration file, code version, parameter changes and source data here. No new result is asserted by this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source waveform, distance, orientation, observation time, integration band and one-sided PSD convention. For lunar-mode detection specify excitation amplitude and damping. For GW detection include the calibrated lunar response. Numerical SNRs and thresholds remain blank until supplied or calculated. Record integration convergence and treatment of narrow resonances.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specific owners only after agreement. Potential coordination: Gaussian modes with Remmy, optical review with Volker, updated sensitivity and lunar response with Teviet, dust scattering with Phoenix, APRA inputs for Remington. Keep AJRC logistics separate unless a concrete deliverable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current iLILA Optical Sensitivity Project Plan; supplied Presentation - Optical Modeling Overview.pdf; supplied run_michelson_gouy_fixed(1).py; https://arxiv.org/abs/2508.18437; https://arxiv.org/abs/2509.15452; https://finesse.ifosim.org/docs/latest/; https://pypi.org/project/gwinc/; Siegman, A. E., Lasers, University Science Books (1986); Kogelnik and Li, Laser Beams and Resonators, https://doi.org/10.1364/AO.5.001550. Confirm current paper versions before adopting numerical sensitivity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Calculation dated 24 September 2026. Source: supplied Creighton et al., Fundamental Noise and Gravitational-Wave Sensitivity of the Laser Interferometer Lunar Antenna (LILA), LILAL-noise.pdf, Eqs. (2)–(5). Executed source: iLILA_Reference_Noise_and_Allowance.ipynb. At 0.001 Hz, thermal ASD 1.095445e-15 m/sqrt(Hz), shot ASD 1.0348e-16, dust ASD 1.788854e-18, independent PSD sum ASD 1.100321e-15. The 0.5 W value is effective eta P, an interpretation of the manuscript photodiode power to confirm. The 1e-15 flat target is the preliminary project-plan target, distinct from the paper characteristic-strain curve. This reproduces selected equations, not a validated full noise budget or exact digitized figure match. Confirm the paper displacement coordinate against hardware calibration before assigning requirements. Original scientific plot embedded unchanged. The notebook contains editable calculation and plotting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LILAL-noise.pdf Eqs. (2)–(5) and executed iLILA_Reference_Noise_and_Allowance.ipynb. For independent terms in a common coordinate, remaining PSD = target ASD squared minus known PSD sum. Negative margins are infeasible, not zero-valued requirements. Optimistic flat-target crossing is 1.212994 mHz for the adopted reference parameters. At 10 mHz, reference ASD 3.6154e-16 and additional ASD ceiling 9.3236e-16 m/sqrt(Hz). At 100 mHz those are 1.5070e-16 and 9.8858e-16 respectively. The purple curve uses an illustrative total ASD multiplier g=1.10, giving sqrt(g^2−1)=0.458258 times the reference ASD for all added independent noise. This tolerance is not an approved requirement or a seismic prediction. Correlated disturbances require cross spectra. Lunar response, science targets and SNR are still needed. Original scientific plot embedded unchanged. Notebook retains editable calculation and plotting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iLILA_Reference_Noise_and_Allowance.ipynb, version 2, executed on 24 September 2026 and reviewed for the 1 October update. This week reviews the available calculations rather than claiming new measured performance. The flat 1e-15 m/sqrt(Hz) displacement target comes from the preliminary project plan and differs from characteristic strain. All numerical readout comparisons use hypothetical ideal detectors. No seismic suppression or lunar seismic amplitude has been assigned. APRA informs a bench alternative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iLILA_Reference_Noise_and_Allowance.ipynb, version 2, executed on 24 September 2026 and reviewed for the 1 October update. Supplied LILAL-noise.pdf, Eqs. (2)–(5). Optimistic thermal, shot and dust PSDs sum independently. At 1 mHz: thermal 1.095445e-15, shot 1.0348e-16, dust 1.788854e-18, total 1.100321e-15 m/sqrt(Hz). The conservative thermal alternative gives a larger total and is not added to the optimistic case. ηP=0.5 W is the adopted effective-power interpretation of the manuscript, pending convention confirmation. Coordinate and optic multiplicity must be reconciled before hardware requirements. The plotted curve excludes seismic and technical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iLILA_Reference_Noise_and_Allowance.ipynb, version 2, executed on 24 September 2026 and reviewed for the 1 October update. For independent terms in the same coordinate, additional PSD equals target ASD squared minus the known PSD sum. Negative margins are infeasible. Crossing of the flat 1e-15 target is 1.212994 mHz. At 10 mHz the reference is 3.6154e-16 and the flat-target extra ASD ceiling is 9.3236e-16 m/sqrt(Hz). A separate illustrative 10% total-ASD tolerance gives sqrt(1.1^2-1)=0.458258 times the reference ASD for all added noise. This envelope is not an approved requirement. Correlated terms require cross spectra.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iLILA_Reference_Noise_and_Allowance.ipynb, version 2, executed on 24 September 2026 and reviewed for the 1 October update. Notebook cells 16–20. A_x,nu = abs(ΔL/nu0) A_nu, with x one-way differential displacement and ΔL static one-way arm mismatch. The right plot uses a 10% total-ASD envelope around the reference, not the flat target. At 10 mHz the available extra ASD is 1.6568e-16 m/sqrt(Hz). Assigning 100% to laser noise gives 4.668 Hz/sqrt(Hz) at 1 cm, 0.4668 at 10 cm, and 46.68 at 1 mm. A PSD allocation b scales the frequency ceiling by sqrt(b). The 1550 nm line on the left compares coupling only, not lunar performance. Nonlinear derivative and ratio checks passed. Finesse remains pending. Coupling reference: Chia and Vajente, LIGO-T1400509-v1, Eq. (1), https://dcc.ligo.org/public/0115/T1400509/001/Optimization%20of%20Michelson%20Interferometer%20Signals%20in%20Crackle%20Noise%20Detection.pdf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iLILA_Reference_Noise_and_Allowance.ipynb, version 2, executed on 24 September 2026 and reviewed for the 1 October update. Notebook cells 22–28. APRA source: apra_Interferometer - V1.pdf, p.3 layout, p.6 collimator, p.8 isolator and p.9 APD410C. The drawing shows one detector and no separate LO or demodulation chain. Inference: direct intensity is the closest match to the supplied drawing. It does not confirm the operating point. P_D=Pr sin²(phi/2), phi=4pi x/lambda. A balanced homodyne uses a phase-aligned LO and the difference of two detector powers, D_H=2 sqrt(Pr P_LO) sin(phi/2). The displayed curves hold common optical phase fixed. The specified single-tone heterodyne after calibrated real-quadrature demodulation has the same mean signal response. Centered nonlinear differences and RF demodulation checks passed. LO/reference noise, imperfect visibility, controls and electronics are absent. Finesse validation remains pending. Finesse BHD description: https://finesse.ifosim.org/docs/latest/api/finesse.detectors.bhd_detector.html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iLILA_Reference_Noise_and_Allowance.ipynb, version 2, executed on 24 September 2026 and reviewed for the 1 October update. Notebook cells 22–31. Pr is total returned power available across both ideal Michelson outputs before quantum efficiency, not launch power or the power on one direct photodiode. The numerical example has Pr=100 nW, eta=0.8, lambda=1550 nm, and additional homodyne LO power 100 nW. Ideal unity-gain detectors, perfect visibility, no squeezing. Single-port direct at quadrature gives 2 sqrt(h nu/(eta Pr))/k, homodyne at dark gives sqrt(2) sqrt(h nu/(eta Pr))/k, k=4pi/lambda. The selected single-tone real-quadrature heterodyne doubles noise PSD relative to homodyne. Its sqrt(2) ASD penalty is topology-specific. Balanced homodyne is about 29% lower in ASD than this direct quadrature case, not universally better than all direct schemes. The direct shot-only limit approaching dark equals the ideal homodyne limit, but exact dark has zero direct linear gain. Actual APD multiplication excess noise, dark/electronic noise, saturation, RIN, LO/RF noise and drift are excluded. Power sweeps are not approved APD operating ranges. Do not add this hypothetical shot noise to the existing reference shot term or mix the 1550 nm bench comparison into the lunar reference without reconciling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iLILA_Reference_Noise_and_Allowance.ipynb, version 2, executed on 24 September 2026 and reviewed for the 1 October update. These are proposed next tasks, not claimed completions. No owners or dates have been assigned. Analytic seismic geometry checks only: c=(1,-1,-1,1), Sx=c Su c-dagger. Equal uncorrelated coordinates give 4 Su while common rigid translation cancels. Neither a lunar input amplitude nor subtraction factor has been assigned. Need frequency/Q data, complex mode sum, geometry and GW response conventions to convert displacement into strain, then an explicit source and observation setup for SNR. When replacing reference readout terms, avoid double counting shot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c21c2d2b3f48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79201400f04918" /><Relationship Type="http://schemas.openxmlformats.org/officeDocument/2006/relationships/slideLayout" Target="/ppt/slideLayouts/slideLayout1.xml" Id="R31f86381c99b4f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f86381c99b4f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e8a1ff870145d8" /><Relationship Type="http://schemas.openxmlformats.org/officeDocument/2006/relationships/notesSlide" Target="/ppt/notesSlides/notesSlide1.xml" Id="Rb758dd62bfc042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31fec096c24c1d" /><Relationship Type="http://schemas.openxmlformats.org/officeDocument/2006/relationships/notesSlide" Target="/ppt/notesSlides/notesSlide2.xml" Id="R085357cb1b8f49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503274696f48b1" /><Relationship Type="http://schemas.openxmlformats.org/officeDocument/2006/relationships/notesSlide" Target="/ppt/notesSlides/notesSlide3.xml" Id="R315a288311f045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9e2064fd2b40d2" /><Relationship Type="http://schemas.openxmlformats.org/officeDocument/2006/relationships/image" Target="/ppt/media/image.png" Id="R6c1f40b0808f4ee5" /><Relationship Type="http://schemas.openxmlformats.org/officeDocument/2006/relationships/notesSlide" Target="/ppt/notesSlides/notesSlide4.xml" Id="R0727f83b25ae41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733a9cf59f4efb" /><Relationship Type="http://schemas.openxmlformats.org/officeDocument/2006/relationships/image" Target="/ppt/media/image2.png" Id="Reaa7dcffffd14314" /><Relationship Type="http://schemas.openxmlformats.org/officeDocument/2006/relationships/notesSlide" Target="/ppt/notesSlides/notesSlide5.xml" Id="R039cf4b9b90f42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0ed5a813314d30" /><Relationship Type="http://schemas.openxmlformats.org/officeDocument/2006/relationships/image" Target="/ppt/media/image3.png" Id="R6f15dfd650d54310" /><Relationship Type="http://schemas.openxmlformats.org/officeDocument/2006/relationships/notesSlide" Target="/ppt/notesSlides/notesSlide6.xml" Id="Rf857c098c2504f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991bc08574446e" /><Relationship Type="http://schemas.openxmlformats.org/officeDocument/2006/relationships/notesSlide" Target="/ppt/notesSlides/notesSlide7.xml" Id="Rbc6502b72b5242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b0b83d945b442c" /><Relationship Type="http://schemas.openxmlformats.org/officeDocument/2006/relationships/notesSlide" Target="/ppt/notesSlides/notesSlide8.xml" Id="Rb9727d6f9f724b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1d0d6f7cb740b3" /><Relationship Type="http://schemas.openxmlformats.org/officeDocument/2006/relationships/notesSlide" Target="/ppt/notesSlides/notesSlide9.xml" Id="R4ca41743003044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ebf9bb0ae84d6e" /><Relationship Type="http://schemas.openxmlformats.org/officeDocument/2006/relationships/notesSlide" Target="/ppt/notesSlides/notesSlide10.xml" Id="Ra637c9ce0aeb4e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a20eb4172f242c4" /><Relationship Type="http://schemas.openxmlformats.org/officeDocument/2006/relationships/notesSlide" Target="/ppt/notesSlides/notesSlide11.xml" Id="Rae2583cdc73342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05bb5902084dd5" /><Relationship Type="http://schemas.openxmlformats.org/officeDocument/2006/relationships/notesSlide" Target="/ppt/notesSlides/notesSlide12.xml" Id="R651216df588144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ee343366f434941" /><Relationship Type="http://schemas.openxmlformats.org/officeDocument/2006/relationships/notesSlide" Target="/ppt/notesSlides/notesSlide13.xml" Id="Rb29cf7aa802642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b5e6c82f5846c1" /><Relationship Type="http://schemas.openxmlformats.org/officeDocument/2006/relationships/notesSlide" Target="/ppt/notesSlides/notesSlide14.xml" Id="Rae7d684e9b0841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fef8bda70144583" /><Relationship Type="http://schemas.openxmlformats.org/officeDocument/2006/relationships/notesSlide" Target="/ppt/notesSlides/notesSlide15.xml" Id="Rea9ba70bed3d482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749701166e8443b" /><Relationship Type="http://schemas.openxmlformats.org/officeDocument/2006/relationships/notesSlide" Target="/ppt/notesSlides/notesSlide16.xml" Id="Ra15ebe68667445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9298dd4ae748ce" /><Relationship Type="http://schemas.openxmlformats.org/officeDocument/2006/relationships/image" Target="/ppt/media/image4.png" Id="R82b1542132ab4e9c" /><Relationship Type="http://schemas.openxmlformats.org/officeDocument/2006/relationships/notesSlide" Target="/ppt/notesSlides/notesSlide17.xml" Id="R8fd9b625e57a44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22fc34b893434f" /><Relationship Type="http://schemas.openxmlformats.org/officeDocument/2006/relationships/image" Target="/ppt/media/image5.png" Id="Rd7b9ad9bde5b4a0a" /><Relationship Type="http://schemas.openxmlformats.org/officeDocument/2006/relationships/notesSlide" Target="/ppt/notesSlides/notesSlide18.xml" Id="R51abe4e12195450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065444cdb5344f3" /><Relationship Type="http://schemas.openxmlformats.org/officeDocument/2006/relationships/notesSlide" Target="/ppt/notesSlides/notesSlide19.xml" Id="R1d1e98590f3d48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9d001c8853449c6" /><Relationship Type="http://schemas.openxmlformats.org/officeDocument/2006/relationships/image" Target="/ppt/media/image4.png" Id="Rd17f6e45fc57453c" /><Relationship Type="http://schemas.openxmlformats.org/officeDocument/2006/relationships/notesSlide" Target="/ppt/notesSlides/notesSlide20.xml" Id="Rb77bb8d1051440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0b7b2adc5104571" /><Relationship Type="http://schemas.openxmlformats.org/officeDocument/2006/relationships/image" Target="/ppt/media/image5.png" Id="R978887e1c68e4848" /><Relationship Type="http://schemas.openxmlformats.org/officeDocument/2006/relationships/notesSlide" Target="/ppt/notesSlides/notesSlide21.xml" Id="Re537f457b1e84df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44777c162b747cc" /><Relationship Type="http://schemas.openxmlformats.org/officeDocument/2006/relationships/image" Target="/ppt/media/image6.png" Id="R3bb1a25c32c943f9" /><Relationship Type="http://schemas.openxmlformats.org/officeDocument/2006/relationships/notesSlide" Target="/ppt/notesSlides/notesSlide22.xml" Id="R3d0533daf9e94ea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8e106d01386485f" /><Relationship Type="http://schemas.openxmlformats.org/officeDocument/2006/relationships/image" Target="/ppt/media/image7.png" Id="R5b0c68e2262e48cf" /><Relationship Type="http://schemas.openxmlformats.org/officeDocument/2006/relationships/notesSlide" Target="/ppt/notesSlides/notesSlide23.xml" Id="Rd0469ad3037d4f6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a83d7ba0e624859" /><Relationship Type="http://schemas.openxmlformats.org/officeDocument/2006/relationships/image" Target="/ppt/media/image8.png" Id="R3c062d76fbd84d6e" /><Relationship Type="http://schemas.openxmlformats.org/officeDocument/2006/relationships/notesSlide" Target="/ppt/notesSlides/notesSlide24.xml" Id="R0fb9047065e547a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eb178532d944787" /><Relationship Type="http://schemas.openxmlformats.org/officeDocument/2006/relationships/notesSlide" Target="/ppt/notesSlides/notesSlide25.xml" Id="R13a84680a120480d" /></Relationships>
</file>

<file path=ppt/slides/slide1.xml><?xml version="1.0" encoding="utf-8"?>
<p:sld xmlns:p="http://schemas.openxmlformats.org/presentationml/2006/main">
  <p:cSld>
    <p:bg>
      <p:bgPr>
        <a:solidFill xmlns:a="http://schemas.openxmlformats.org/drawingml/2006/main">
          <a:srgbClr val="007F8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EAB118-AB17-4CC9-8E6A-F9D34720B4FD}"/>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FFFFFF"/>
                </a:solidFill>
                <a:latin typeface="Aptos"/>
                <a:ea typeface="Aptos"/>
                <a:cs typeface="Aptos"/>
              </a:defRPr>
            </a:pPr>
            <a:r>
              <a:rPr sz="1200" b="0">
                <a:solidFill>
                  <a:srgbClr val="FFFFFF"/>
                </a:solidFill>
                <a:latin typeface="Aptos"/>
                <a:ea typeface="Aptos"/>
                <a:cs typeface="Aptos"/>
              </a:rPr>
              <a:t>01</a:t>
            </a:r>
          </a:p>
        </p:txBody>
      </p:sp>
      <p:sp>
        <p:nvSpPr>
          <p:cNvPr id="2" name="">
            <a:extLst xmlns:a="http://schemas.openxmlformats.org/drawingml/2006/main">
              <a:ext uri="{FF2B5EF4-FFF2-40B4-BE49-F238E27FC236}">
                <a16:creationId xmlns:a16="http://schemas.microsoft.com/office/drawing/2014/main" id="{FDD838A9-7E02-4343-8AB4-0CD1D07F77BC}"/>
              </a:ext>
            </a:extLst>
          </p:cNvPr>
          <p:cNvSpPr>
            <a:spLocks xmlns:a="http://schemas.openxmlformats.org/drawingml/2006/main" noGrp="1"/>
          </p:cNvSpPr>
          <p:nvPr/>
        </p:nvSpPr>
        <p:spPr>
          <a:xfrm xmlns:a="http://schemas.openxmlformats.org/drawingml/2006/main">
            <a:off x="571500" y="6191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Aptos"/>
                <a:ea typeface="Aptos"/>
                <a:cs typeface="Aptos"/>
              </a:defRPr>
            </a:pPr>
            <a:r>
              <a:rPr sz="5700" b="1">
                <a:solidFill>
                  <a:srgbClr val="FFFFFF"/>
                </a:solidFill>
                <a:latin typeface="Aptos"/>
                <a:ea typeface="Aptos"/>
                <a:cs typeface="Aptos"/>
              </a:rPr>
              <a:t>iLILA</a:t>
            </a:r>
          </a:p>
        </p:txBody>
      </p:sp>
      <p:sp>
        <p:nvSpPr>
          <p:cNvPr id="3" name="">
            <a:extLst xmlns:a="http://schemas.openxmlformats.org/drawingml/2006/main">
              <a:ext uri="{FF2B5EF4-FFF2-40B4-BE49-F238E27FC236}">
                <a16:creationId xmlns:a16="http://schemas.microsoft.com/office/drawing/2014/main" id="{0863DB8C-7563-4DBC-B6AA-65C3188EC790}"/>
              </a:ext>
            </a:extLst>
          </p:cNvPr>
          <p:cNvSpPr>
            <a:spLocks xmlns:a="http://schemas.openxmlformats.org/drawingml/2006/main" noGrp="1"/>
          </p:cNvSpPr>
          <p:nvPr/>
        </p:nvSpPr>
        <p:spPr>
          <a:xfrm xmlns:a="http://schemas.openxmlformats.org/drawingml/2006/main">
            <a:off x="590550" y="2143125"/>
            <a:ext cx="108108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FFFFFF"/>
                </a:solidFill>
                <a:latin typeface="Aptos"/>
                <a:ea typeface="Aptos"/>
                <a:cs typeface="Aptos"/>
              </a:defRPr>
            </a:pPr>
            <a:r>
              <a:rPr sz="4350" b="1">
                <a:solidFill>
                  <a:srgbClr val="FFFFFF"/>
                </a:solidFill>
                <a:latin typeface="Aptos"/>
                <a:ea typeface="Aptos"/>
                <a:cs typeface="Aptos"/>
              </a:rPr>
              <a:t>Optical sensitivity</a:t>
            </a:r>
          </a:p>
          <a:p xmlns:a="http://schemas.openxmlformats.org/drawingml/2006/main">
            <a:pPr>
              <a:buNone/>
              <a:defRPr sz="4350" b="1">
                <a:solidFill>
                  <a:srgbClr val="FFFFFF"/>
                </a:solidFill>
                <a:latin typeface="Aptos"/>
                <a:ea typeface="Aptos"/>
                <a:cs typeface="Aptos"/>
              </a:defRPr>
            </a:pPr>
            <a:r>
              <a:rPr sz="4350" b="1">
                <a:solidFill>
                  <a:srgbClr val="FFFFFF"/>
                </a:solidFill>
                <a:latin typeface="Aptos"/>
                <a:ea typeface="Aptos"/>
                <a:cs typeface="Aptos"/>
              </a:rPr>
              <a:t>and weekly research updates</a:t>
            </a:r>
          </a:p>
        </p:txBody>
      </p:sp>
      <p:sp>
        <p:nvSpPr>
          <p:cNvPr id="4" name="">
            <a:extLst xmlns:a="http://schemas.openxmlformats.org/drawingml/2006/main">
              <a:ext uri="{FF2B5EF4-FFF2-40B4-BE49-F238E27FC236}">
                <a16:creationId xmlns:a16="http://schemas.microsoft.com/office/drawing/2014/main" id="{8D95D551-CB4E-47AD-9C40-23CB918FDF97}"/>
              </a:ext>
            </a:extLst>
          </p:cNvPr>
          <p:cNvSpPr>
            <a:spLocks xmlns:a="http://schemas.openxmlformats.org/drawingml/2006/main" noGrp="1"/>
          </p:cNvSpPr>
          <p:nvPr/>
        </p:nvSpPr>
        <p:spPr>
          <a:xfrm xmlns:a="http://schemas.openxmlformats.org/drawingml/2006/main">
            <a:off x="609600" y="45434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FFFFF"/>
                </a:solidFill>
                <a:latin typeface="Aptos"/>
                <a:ea typeface="Aptos"/>
                <a:cs typeface="Aptos"/>
              </a:defRPr>
            </a:pPr>
            <a:r>
              <a:rPr sz="2250" b="0">
                <a:solidFill>
                  <a:srgbClr val="FFFFFF"/>
                </a:solidFill>
                <a:latin typeface="Aptos"/>
                <a:ea typeface="Aptos"/>
                <a:cs typeface="Aptos"/>
              </a:rPr>
              <a:t>Kaylah McGowan</a:t>
            </a:r>
          </a:p>
        </p:txBody>
      </p:sp>
      <p:sp>
        <p:nvSpPr>
          <p:cNvPr id="5" name="">
            <a:extLst xmlns:a="http://schemas.openxmlformats.org/drawingml/2006/main">
              <a:ext uri="{FF2B5EF4-FFF2-40B4-BE49-F238E27FC236}">
                <a16:creationId xmlns:a16="http://schemas.microsoft.com/office/drawing/2014/main" id="{11A98EA0-51AB-495C-8BC8-493537B9B0AD}"/>
              </a:ext>
            </a:extLst>
          </p:cNvPr>
          <p:cNvSpPr>
            <a:spLocks xmlns:a="http://schemas.openxmlformats.org/drawingml/2006/main" noGrp="1"/>
          </p:cNvSpPr>
          <p:nvPr/>
        </p:nvSpPr>
        <p:spPr>
          <a:xfrm xmlns:a="http://schemas.openxmlformats.org/drawingml/2006/main">
            <a:off x="609600" y="52863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5FFFF"/>
                </a:solidFill>
                <a:latin typeface="Aptos"/>
                <a:ea typeface="Aptos"/>
                <a:cs typeface="Aptos"/>
              </a:defRPr>
            </a:pPr>
            <a:r>
              <a:rPr sz="2025" b="0">
                <a:solidFill>
                  <a:srgbClr val="D5FFFF"/>
                </a:solidFill>
                <a:latin typeface="Aptos"/>
                <a:ea typeface="Aptos"/>
                <a:cs typeface="Aptos"/>
              </a:rPr>
              <a:t>Week of [date]</a:t>
            </a:r>
          </a:p>
        </p:txBody>
      </p:sp>
    </p:spTree>
    <p:extLst>
      <p:ext uri="{BB962C8B-B14F-4D97-AF65-F5344CB8AC3E}">
        <p14:creationId xmlns:p14="http://schemas.microsoft.com/office/powerpoint/2010/main" val="3564562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077A17-D138-41C9-B9C8-18DBC86993A1}"/>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Research objective</a:t>
            </a:r>
          </a:p>
        </p:txBody>
      </p:sp>
      <p:sp>
        <p:nvSpPr>
          <p:cNvPr id="2" name="">
            <a:extLst xmlns:a="http://schemas.openxmlformats.org/drawingml/2006/main">
              <a:ext uri="{FF2B5EF4-FFF2-40B4-BE49-F238E27FC236}">
                <a16:creationId xmlns:a16="http://schemas.microsoft.com/office/drawing/2014/main" id="{68919D93-30FB-4413-92C5-015F91CA1713}"/>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Reverse engineer the requirements for the sensitivity and science SNR targets</a:t>
            </a:r>
          </a:p>
        </p:txBody>
      </p:sp>
      <p:sp>
        <p:nvSpPr>
          <p:cNvPr id="3" name="">
            <a:extLst xmlns:a="http://schemas.openxmlformats.org/drawingml/2006/main">
              <a:ext uri="{FF2B5EF4-FFF2-40B4-BE49-F238E27FC236}">
                <a16:creationId xmlns:a16="http://schemas.microsoft.com/office/drawing/2014/main" id="{336442AA-85B8-4BD4-89DA-A0934BBC0283}"/>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ADD252E3-2D72-43C0-A3A5-C639A7DA82A4}"/>
              </a:ext>
            </a:extLst>
          </p:cNvPr>
          <p:cNvSpPr>
            <a:spLocks xmlns:a="http://schemas.openxmlformats.org/drawingml/2006/main" noGrp="1"/>
          </p:cNvSpPr>
          <p:nvPr/>
        </p:nvSpPr>
        <p:spPr>
          <a:xfrm xmlns:a="http://schemas.openxmlformats.org/drawingml/2006/main">
            <a:off x="552450" y="17716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07F86"/>
                </a:solidFill>
                <a:latin typeface="Aptos"/>
                <a:ea typeface="Aptos"/>
                <a:cs typeface="Aptos"/>
              </a:defRPr>
            </a:pPr>
            <a:r>
              <a:rPr sz="2250" b="1">
                <a:solidFill>
                  <a:srgbClr val="007F86"/>
                </a:solidFill>
                <a:latin typeface="Aptos"/>
                <a:ea typeface="Aptos"/>
                <a:cs typeface="Aptos"/>
              </a:rPr>
              <a:t>Required outputs</a:t>
            </a:r>
          </a:p>
        </p:txBody>
      </p:sp>
      <p:sp>
        <p:nvSpPr>
          <p:cNvPr id="5" name="">
            <a:extLst xmlns:a="http://schemas.openxmlformats.org/drawingml/2006/main">
              <a:ext uri="{FF2B5EF4-FFF2-40B4-BE49-F238E27FC236}">
                <a16:creationId xmlns:a16="http://schemas.microsoft.com/office/drawing/2014/main" id="{06CF212C-856E-42FB-BDEB-7EA2CD8CCD8E}"/>
              </a:ext>
            </a:extLst>
          </p:cNvPr>
          <p:cNvSpPr>
            <a:spLocks xmlns:a="http://schemas.openxmlformats.org/drawingml/2006/main" noGrp="1"/>
          </p:cNvSpPr>
          <p:nvPr/>
        </p:nvSpPr>
        <p:spPr>
          <a:xfrm xmlns:a="http://schemas.openxmlformats.org/drawingml/2006/main">
            <a:off x="552450" y="2362200"/>
            <a:ext cx="50482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43E"/>
                </a:solidFill>
                <a:latin typeface="Aptos"/>
                <a:ea typeface="Aptos"/>
                <a:cs typeface="Aptos"/>
              </a:defRPr>
            </a:pPr>
            <a:r>
              <a:rPr sz="2250" b="0">
                <a:solidFill>
                  <a:srgbClr val="17343E"/>
                </a:solidFill>
                <a:latin typeface="Aptos"/>
                <a:ea typeface="Aptos"/>
                <a:cs typeface="Aptos"/>
              </a:rPr>
              <a:t>Optical response</a:t>
            </a:r>
          </a:p>
          <a:p xmlns:a="http://schemas.openxmlformats.org/drawingml/2006/main">
            <a:pPr>
              <a:buNone/>
              <a:defRPr sz="2250" b="0">
                <a:solidFill>
                  <a:srgbClr val="17343E"/>
                </a:solidFill>
                <a:latin typeface="Aptos"/>
                <a:ea typeface="Aptos"/>
                <a:cs typeface="Aptos"/>
              </a:defRPr>
            </a:pPr>
            <a:r>
              <a:rPr sz="2250" b="0">
                <a:solidFill>
                  <a:srgbClr val="17343E"/>
                </a:solidFill>
                <a:latin typeface="Aptos"/>
                <a:ea typeface="Aptos"/>
                <a:cs typeface="Aptos"/>
              </a:rPr>
              <a:t>Noise budget and coupling functions</a:t>
            </a:r>
          </a:p>
          <a:p xmlns:a="http://schemas.openxmlformats.org/drawingml/2006/main">
            <a:pPr>
              <a:buNone/>
              <a:defRPr sz="2250" b="0">
                <a:solidFill>
                  <a:srgbClr val="17343E"/>
                </a:solidFill>
                <a:latin typeface="Aptos"/>
                <a:ea typeface="Aptos"/>
                <a:cs typeface="Aptos"/>
              </a:defRPr>
            </a:pPr>
            <a:r>
              <a:rPr sz="2250" b="0">
                <a:solidFill>
                  <a:srgbClr val="17343E"/>
                </a:solidFill>
                <a:latin typeface="Aptos"/>
                <a:ea typeface="Aptos"/>
                <a:cs typeface="Aptos"/>
              </a:rPr>
              <a:t>Sensitivity curve</a:t>
            </a:r>
          </a:p>
          <a:p xmlns:a="http://schemas.openxmlformats.org/drawingml/2006/main">
            <a:pPr>
              <a:buNone/>
              <a:defRPr sz="2250" b="0">
                <a:solidFill>
                  <a:srgbClr val="17343E"/>
                </a:solidFill>
                <a:latin typeface="Aptos"/>
                <a:ea typeface="Aptos"/>
                <a:cs typeface="Aptos"/>
              </a:defRPr>
            </a:pPr>
            <a:r>
              <a:rPr sz="2250" b="0">
                <a:solidFill>
                  <a:srgbClr val="17343E"/>
                </a:solidFill>
                <a:latin typeface="Aptos"/>
                <a:ea typeface="Aptos"/>
                <a:cs typeface="Aptos"/>
              </a:rPr>
              <a:t>SNR for defined science cases</a:t>
            </a:r>
          </a:p>
        </p:txBody>
      </p:sp>
      <p:sp>
        <p:nvSpPr>
          <p:cNvPr id="6" name="">
            <a:extLst xmlns:a="http://schemas.openxmlformats.org/drawingml/2006/main">
              <a:ext uri="{FF2B5EF4-FFF2-40B4-BE49-F238E27FC236}">
                <a16:creationId xmlns:a16="http://schemas.microsoft.com/office/drawing/2014/main" id="{77A71E79-2B4B-4E42-9ABB-0A2B66406916}"/>
              </a:ext>
            </a:extLst>
          </p:cNvPr>
          <p:cNvSpPr>
            <a:spLocks xmlns:a="http://schemas.openxmlformats.org/drawingml/2006/main" noGrp="1"/>
          </p:cNvSpPr>
          <p:nvPr/>
        </p:nvSpPr>
        <p:spPr>
          <a:xfrm xmlns:a="http://schemas.openxmlformats.org/drawingml/2006/main">
            <a:off x="6534150" y="17716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07F86"/>
                </a:solidFill>
                <a:latin typeface="Aptos"/>
                <a:ea typeface="Aptos"/>
                <a:cs typeface="Aptos"/>
              </a:defRPr>
            </a:pPr>
            <a:r>
              <a:rPr sz="2250" b="1">
                <a:solidFill>
                  <a:srgbClr val="007F86"/>
                </a:solidFill>
                <a:latin typeface="Aptos"/>
                <a:ea typeface="Aptos"/>
                <a:cs typeface="Aptos"/>
              </a:rPr>
              <a:t>Central unresolved question</a:t>
            </a:r>
          </a:p>
        </p:txBody>
      </p:sp>
      <p:sp>
        <p:nvSpPr>
          <p:cNvPr id="7" name="">
            <a:extLst xmlns:a="http://schemas.openxmlformats.org/drawingml/2006/main">
              <a:ext uri="{FF2B5EF4-FFF2-40B4-BE49-F238E27FC236}">
                <a16:creationId xmlns:a16="http://schemas.microsoft.com/office/drawing/2014/main" id="{2006FF38-CA91-4CAA-B73B-6FBE22D310EA}"/>
              </a:ext>
            </a:extLst>
          </p:cNvPr>
          <p:cNvSpPr>
            <a:spLocks xmlns:a="http://schemas.openxmlformats.org/drawingml/2006/main" noGrp="1"/>
          </p:cNvSpPr>
          <p:nvPr/>
        </p:nvSpPr>
        <p:spPr>
          <a:xfrm xmlns:a="http://schemas.openxmlformats.org/drawingml/2006/main">
            <a:off x="6534150" y="2362200"/>
            <a:ext cx="47625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7343E"/>
                </a:solidFill>
                <a:latin typeface="Aptos"/>
                <a:ea typeface="Aptos"/>
                <a:cs typeface="Aptos"/>
              </a:defRPr>
            </a:pPr>
            <a:r>
              <a:rPr sz="2475" b="0">
                <a:solidFill>
                  <a:srgbClr val="17343E"/>
                </a:solidFill>
                <a:latin typeface="Aptos"/>
                <a:ea typeface="Aptos"/>
                <a:cs typeface="Aptos"/>
              </a:rPr>
              <a:t>What seismic motion reaches the readout, and how much can iLILA tolerate while meeting the science goals?</a:t>
            </a:r>
          </a:p>
        </p:txBody>
      </p:sp>
      <p:sp>
        <p:nvSpPr>
          <p:cNvPr id="8" name="">
            <a:extLst xmlns:a="http://schemas.openxmlformats.org/drawingml/2006/main">
              <a:ext uri="{FF2B5EF4-FFF2-40B4-BE49-F238E27FC236}">
                <a16:creationId xmlns:a16="http://schemas.microsoft.com/office/drawing/2014/main" id="{503E725D-31B7-41A5-9781-BA95C436BFEF}"/>
              </a:ext>
            </a:extLst>
          </p:cNvPr>
          <p:cNvSpPr>
            <a:spLocks xmlns:a="http://schemas.openxmlformats.org/drawingml/2006/main" noGrp="1"/>
          </p:cNvSpPr>
          <p:nvPr/>
        </p:nvSpPr>
        <p:spPr>
          <a:xfrm xmlns:a="http://schemas.openxmlformats.org/drawingml/2006/main">
            <a:off x="552450" y="55530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7F86"/>
                </a:solidFill>
                <a:latin typeface="Aptos"/>
                <a:ea typeface="Aptos"/>
                <a:cs typeface="Aptos"/>
              </a:defRPr>
            </a:pPr>
            <a:r>
              <a:rPr sz="2100" b="1">
                <a:solidFill>
                  <a:srgbClr val="007F86"/>
                </a:solidFill>
                <a:latin typeface="Aptos"/>
                <a:ea typeface="Aptos"/>
                <a:cs typeface="Aptos"/>
              </a:rPr>
              <a:t>A matching reference curve is the starting point for testing achievable performance.</a:t>
            </a:r>
          </a:p>
        </p:txBody>
      </p:sp>
    </p:spTree>
    <p:extLst>
      <p:ext uri="{BB962C8B-B14F-4D97-AF65-F5344CB8AC3E}">
        <p14:creationId xmlns:p14="http://schemas.microsoft.com/office/powerpoint/2010/main" val="13503139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4FE526-7115-46A5-A26B-CBB3E5699275}"/>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Model configurations</a:t>
            </a:r>
          </a:p>
        </p:txBody>
      </p:sp>
      <p:sp>
        <p:nvSpPr>
          <p:cNvPr id="2" name="">
            <a:extLst xmlns:a="http://schemas.openxmlformats.org/drawingml/2006/main">
              <a:ext uri="{FF2B5EF4-FFF2-40B4-BE49-F238E27FC236}">
                <a16:creationId xmlns:a16="http://schemas.microsoft.com/office/drawing/2014/main" id="{345F0BC7-726F-44A8-AB9A-9701862A7528}"/>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Separate the bench hardware, the 1 km instrument and the later cavity study</a:t>
            </a:r>
          </a:p>
        </p:txBody>
      </p:sp>
      <p:sp>
        <p:nvSpPr>
          <p:cNvPr id="3" name="">
            <a:extLst xmlns:a="http://schemas.openxmlformats.org/drawingml/2006/main">
              <a:ext uri="{FF2B5EF4-FFF2-40B4-BE49-F238E27FC236}">
                <a16:creationId xmlns:a16="http://schemas.microsoft.com/office/drawing/2014/main" id="{10867578-0FC3-46A6-9E77-76A5601E1EA6}"/>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03</a:t>
            </a:r>
          </a:p>
        </p:txBody>
      </p:sp>
      <p:graphicFrame>
        <p:nvGraphicFramePr>
          <p:cNvPr id="11" name=""/>
          <p:cNvGraphicFramePr/>
          <p:nvPr/>
        </p:nvGraphicFramePr>
        <p:xfrm>
          <a:off xmlns:a="http://schemas.openxmlformats.org/drawingml/2006/main" x="533400" y="1752600"/>
          <a:ext xmlns:a="http://schemas.openxmlformats.org/drawingml/2006/main" cx="11125200" cy="3295650"/>
        </p:xfrm>
        <a:graphic xmlns:a="http://schemas.openxmlformats.org/drawingml/2006/main">
          <a:graphicData uri="http://schemas.openxmlformats.org/drawingml/2006/table">
            <a:tbl>
              <a:tblPr/>
              <a:tblGrid>
                <a:gridCol w="2428875"/>
                <a:gridCol w="3524250"/>
                <a:gridCol w="5172075"/>
              </a:tblGrid>
              <a:tr h="823913">
                <a:tc>
                  <a:txBody>
                    <a:bodyPr>
                      <a:noAutofit/>
                    </a:bodyPr>
                    <a:lstStyle/>
                    <a:p>
                      <a:r>
                        <a:rPr sz="1875" b="1">
                          <a:solidFill>
                            <a:srgbClr val="FFFFFF"/>
                          </a:solidFill>
                          <a:latin typeface="Aptos"/>
                          <a:ea typeface="Aptos"/>
                          <a:cs typeface="Aptos"/>
                        </a:rPr>
                        <a:t>Configuration</a:t>
                      </a:r>
                    </a:p>
                  </a:txBody>
                  <a:tcPr marL="133350" marR="133350" marT="95250" marB="95250">
                    <a:solidFill>
                      <a:srgbClr val="007F86"/>
                    </a:solidFill>
                  </a:tcPr>
                </a:tc>
                <a:tc>
                  <a:txBody>
                    <a:bodyPr>
                      <a:noAutofit/>
                    </a:bodyPr>
                    <a:lstStyle/>
                    <a:p>
                      <a:r>
                        <a:rPr sz="1875" b="1">
                          <a:solidFill>
                            <a:srgbClr val="FFFFFF"/>
                          </a:solidFill>
                          <a:latin typeface="Aptos"/>
                          <a:ea typeface="Aptos"/>
                          <a:cs typeface="Aptos"/>
                        </a:rPr>
                        <a:t>Purpose</a:t>
                      </a:r>
                    </a:p>
                  </a:txBody>
                  <a:tcPr marL="133350" marR="133350" marT="95250" marB="95250">
                    <a:solidFill>
                      <a:srgbClr val="007F86"/>
                    </a:solidFill>
                  </a:tcPr>
                </a:tc>
                <a:tc>
                  <a:txBody>
                    <a:bodyPr>
                      <a:noAutofit/>
                    </a:bodyPr>
                    <a:lstStyle/>
                    <a:p>
                      <a:r>
                        <a:rPr sz="1875" b="1">
                          <a:solidFill>
                            <a:srgbClr val="FFFFFF"/>
                          </a:solidFill>
                          <a:latin typeface="Aptos"/>
                          <a:ea typeface="Aptos"/>
                          <a:cs typeface="Aptos"/>
                        </a:rPr>
                        <a:t>Parameters to track</a:t>
                      </a:r>
                    </a:p>
                  </a:txBody>
                  <a:tcPr marL="133350" marR="133350" marT="95250" marB="95250">
                    <a:solidFill>
                      <a:srgbClr val="007F86"/>
                    </a:solidFill>
                  </a:tcPr>
                </a:tc>
              </a:tr>
              <a:tr h="823913">
                <a:tc>
                  <a:txBody>
                    <a:bodyPr>
                      <a:noAutofit/>
                    </a:bodyPr>
                    <a:lstStyle/>
                    <a:p>
                      <a:r>
                        <a:rPr sz="1875" b="1">
                          <a:solidFill>
                            <a:srgbClr val="007F86"/>
                          </a:solidFill>
                          <a:latin typeface="Aptos"/>
                          <a:ea typeface="Aptos"/>
                          <a:cs typeface="Aptos"/>
                        </a:rPr>
                        <a:t>Laboratory Michelson</a:t>
                      </a:r>
                    </a:p>
                  </a:txBody>
                  <a:tcPr marL="133350" marR="133350" marT="95250" marB="95250">
                    <a:solidFill>
                      <a:srgbClr val="EAF8F8"/>
                    </a:solidFill>
                  </a:tcPr>
                </a:tc>
                <a:tc>
                  <a:txBody>
                    <a:bodyPr>
                      <a:noAutofit/>
                    </a:bodyPr>
                    <a:lstStyle/>
                    <a:p>
                      <a:r>
                        <a:rPr sz="1875" b="0">
                          <a:solidFill>
                            <a:srgbClr val="17343E"/>
                          </a:solidFill>
                          <a:latin typeface="Aptos"/>
                          <a:ea typeface="Aptos"/>
                          <a:cs typeface="Aptos"/>
                        </a:rPr>
                        <a:t>Validate propagation and readout</a:t>
                      </a:r>
                    </a:p>
                  </a:txBody>
                  <a:tcPr marL="133350" marR="133350" marT="95250" marB="95250">
                    <a:solidFill>
                      <a:srgbClr val="EAF8F8"/>
                    </a:solidFill>
                  </a:tcPr>
                </a:tc>
                <a:tc>
                  <a:txBody>
                    <a:bodyPr>
                      <a:noAutofit/>
                    </a:bodyPr>
                    <a:lstStyle/>
                    <a:p>
                      <a:r>
                        <a:rPr sz="1875" b="0">
                          <a:solidFill>
                            <a:srgbClr val="17343E"/>
                          </a:solidFill>
                          <a:latin typeface="Aptos"/>
                          <a:ea typeface="Aptos"/>
                          <a:cs typeface="Aptos"/>
                        </a:rPr>
                        <a:t>1550 nm rerun</a:t>
                      </a:r>
                    </a:p>
                    <a:p>
                      <a:r>
                        <a:rPr sz="1875" b="0">
                          <a:solidFill>
                            <a:srgbClr val="17343E"/>
                          </a:solidFill>
                          <a:latin typeface="Aptos"/>
                          <a:ea typeface="Aptos"/>
                          <a:cs typeface="Aptos"/>
                        </a:rPr>
                        <a:t>Beam radius definition to confirm</a:t>
                      </a:r>
                    </a:p>
                  </a:txBody>
                  <a:tcPr marL="133350" marR="133350" marT="95250" marB="95250">
                    <a:solidFill>
                      <a:srgbClr val="EAF8F8"/>
                    </a:solidFill>
                  </a:tcPr>
                </a:tc>
              </a:tr>
              <a:tr h="823913">
                <a:tc>
                  <a:txBody>
                    <a:bodyPr>
                      <a:noAutofit/>
                    </a:bodyPr>
                    <a:lstStyle/>
                    <a:p>
                      <a:r>
                        <a:rPr sz="1875" b="1">
                          <a:solidFill>
                            <a:srgbClr val="007F86"/>
                          </a:solidFill>
                          <a:latin typeface="Aptos"/>
                          <a:ea typeface="Aptos"/>
                          <a:cs typeface="Aptos"/>
                        </a:rPr>
                        <a:t>1 km iLILA</a:t>
                      </a:r>
                    </a:p>
                  </a:txBody>
                  <a:tcPr marL="133350" marR="133350" marT="95250" marB="95250">
                    <a:solidFill>
                      <a:srgbClr val="FFFFFF"/>
                    </a:solidFill>
                  </a:tcPr>
                </a:tc>
                <a:tc>
                  <a:txBody>
                    <a:bodyPr>
                      <a:noAutofit/>
                    </a:bodyPr>
                    <a:lstStyle/>
                    <a:p>
                      <a:r>
                        <a:rPr sz="1875" b="0">
                          <a:solidFill>
                            <a:srgbClr val="17343E"/>
                          </a:solidFill>
                          <a:latin typeface="Aptos"/>
                          <a:ea typeface="Aptos"/>
                          <a:cs typeface="Aptos"/>
                        </a:rPr>
                        <a:t>Sensitivity, coupling and SNR</a:t>
                      </a:r>
                    </a:p>
                  </a:txBody>
                  <a:tcPr marL="133350" marR="133350" marT="95250" marB="95250">
                    <a:solidFill>
                      <a:srgbClr val="FFFFFF"/>
                    </a:solidFill>
                  </a:tcPr>
                </a:tc>
                <a:tc>
                  <a:txBody>
                    <a:bodyPr>
                      <a:noAutofit/>
                    </a:bodyPr>
                    <a:lstStyle/>
                    <a:p>
                      <a:r>
                        <a:rPr sz="1875" b="0">
                          <a:solidFill>
                            <a:srgbClr val="17343E"/>
                          </a:solidFill>
                          <a:latin typeface="Aptos"/>
                          <a:ea typeface="Aptos"/>
                          <a:cs typeface="Aptos"/>
                        </a:rPr>
                        <a:t>No arm cavities</a:t>
                      </a:r>
                    </a:p>
                    <a:p>
                      <a:r>
                        <a:rPr sz="1875" b="0">
                          <a:solidFill>
                            <a:srgbClr val="17343E"/>
                          </a:solidFill>
                          <a:latin typeface="Aptos"/>
                          <a:ea typeface="Aptos"/>
                          <a:cs typeface="Aptos"/>
                        </a:rPr>
                        <a:t>Mission wavelength to confirm</a:t>
                      </a:r>
                    </a:p>
                  </a:txBody>
                  <a:tcPr marL="133350" marR="133350" marT="95250" marB="95250">
                    <a:solidFill>
                      <a:srgbClr val="FFFFFF"/>
                    </a:solidFill>
                  </a:tcPr>
                </a:tc>
              </a:tr>
              <a:tr h="823913">
                <a:tc>
                  <a:txBody>
                    <a:bodyPr>
                      <a:noAutofit/>
                    </a:bodyPr>
                    <a:lstStyle/>
                    <a:p>
                      <a:r>
                        <a:rPr sz="1875" b="1">
                          <a:solidFill>
                            <a:srgbClr val="007F86"/>
                          </a:solidFill>
                          <a:latin typeface="Aptos"/>
                          <a:ea typeface="Aptos"/>
                          <a:cs typeface="Aptos"/>
                        </a:rPr>
                        <a:t>LILA Observatory</a:t>
                      </a:r>
                    </a:p>
                  </a:txBody>
                  <a:tcPr marL="133350" marR="133350" marT="95250" marB="95250">
                    <a:solidFill>
                      <a:srgbClr val="EAF8F8"/>
                    </a:solidFill>
                  </a:tcPr>
                </a:tc>
                <a:tc>
                  <a:txBody>
                    <a:bodyPr>
                      <a:noAutofit/>
                    </a:bodyPr>
                    <a:lstStyle/>
                    <a:p>
                      <a:r>
                        <a:rPr sz="1875" b="0">
                          <a:solidFill>
                            <a:srgbClr val="17343E"/>
                          </a:solidFill>
                          <a:latin typeface="Aptos"/>
                          <a:ea typeface="Aptos"/>
                          <a:cs typeface="Aptos"/>
                        </a:rPr>
                        <a:t>Later cavity extension</a:t>
                      </a:r>
                    </a:p>
                  </a:txBody>
                  <a:tcPr marL="133350" marR="133350" marT="95250" marB="95250">
                    <a:solidFill>
                      <a:srgbClr val="EAF8F8"/>
                    </a:solidFill>
                  </a:tcPr>
                </a:tc>
                <a:tc>
                  <a:txBody>
                    <a:bodyPr>
                      <a:noAutofit/>
                    </a:bodyPr>
                    <a:lstStyle/>
                    <a:p>
                      <a:r>
                        <a:rPr sz="1875" b="0">
                          <a:solidFill>
                            <a:srgbClr val="17343E"/>
                          </a:solidFill>
                          <a:latin typeface="Aptos"/>
                          <a:ea typeface="Aptos"/>
                          <a:cs typeface="Aptos"/>
                        </a:rPr>
                        <a:t>Cavity geometry, losses</a:t>
                      </a:r>
                    </a:p>
                    <a:p>
                      <a:r>
                        <a:rPr sz="1875" b="0">
                          <a:solidFill>
                            <a:srgbClr val="17343E"/>
                          </a:solidFill>
                          <a:latin typeface="Aptos"/>
                          <a:ea typeface="Aptos"/>
                          <a:cs typeface="Aptos"/>
                        </a:rPr>
                        <a:t>and mechanical configuration</a:t>
                      </a:r>
                    </a:p>
                  </a:txBody>
                  <a:tcPr marL="133350" marR="133350" marT="95250" marB="95250">
                    <a:solidFill>
                      <a:srgbClr val="EAF8F8"/>
                    </a:solidFill>
                  </a:tcPr>
                </a:tc>
              </a:tr>
            </a:tbl>
          </a:graphicData>
        </a:graphic>
      </p:graphicFrame>
      <p:sp>
        <p:nvSpPr>
          <p:cNvPr id="5" name="">
            <a:extLst xmlns:a="http://schemas.openxmlformats.org/drawingml/2006/main">
              <a:ext uri="{FF2B5EF4-FFF2-40B4-BE49-F238E27FC236}">
                <a16:creationId xmlns:a16="http://schemas.microsoft.com/office/drawing/2014/main" id="{18B1BD3A-02F6-4555-9CF2-C05D8F4F4B46}"/>
              </a:ext>
            </a:extLst>
          </p:cNvPr>
          <p:cNvSpPr>
            <a:spLocks xmlns:a="http://schemas.openxmlformats.org/drawingml/2006/main" noGrp="1"/>
          </p:cNvSpPr>
          <p:nvPr/>
        </p:nvSpPr>
        <p:spPr>
          <a:xfrm xmlns:a="http://schemas.openxmlformats.org/drawingml/2006/main">
            <a:off x="552450" y="54102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F86"/>
                </a:solidFill>
                <a:latin typeface="Aptos"/>
                <a:ea typeface="Aptos"/>
                <a:cs typeface="Aptos"/>
              </a:defRPr>
            </a:pPr>
            <a:r>
              <a:rPr sz="1950" b="1">
                <a:solidFill>
                  <a:srgbClr val="007F86"/>
                </a:solidFill>
                <a:latin typeface="Aptos"/>
                <a:ea typeface="Aptos"/>
                <a:cs typeface="Aptos"/>
              </a:rPr>
              <a:t>Proposal reference: 10⁻¹⁵ m/√Hz over 1–100 mHz. Treat it as a preliminary requirement.</a:t>
            </a:r>
          </a:p>
        </p:txBody>
      </p:sp>
    </p:spTree>
    <p:extLst>
      <p:ext uri="{BB962C8B-B14F-4D97-AF65-F5344CB8AC3E}">
        <p14:creationId xmlns:p14="http://schemas.microsoft.com/office/powerpoint/2010/main" val="17656313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1F3BDA-9FA7-4015-97A2-293A14EC96A8}"/>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Existing Michelson layout</a:t>
            </a:r>
          </a:p>
        </p:txBody>
      </p:sp>
      <p:sp>
        <p:nvSpPr>
          <p:cNvPr id="2" name="">
            <a:extLst xmlns:a="http://schemas.openxmlformats.org/drawingml/2006/main">
              <a:ext uri="{FF2B5EF4-FFF2-40B4-BE49-F238E27FC236}">
                <a16:creationId xmlns:a16="http://schemas.microsoft.com/office/drawing/2014/main" id="{2EB2CF0D-99C8-4010-A61A-20D85483F920}"/>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Reference result from the September 15 optical modeling presentation</a:t>
            </a:r>
          </a:p>
        </p:txBody>
      </p:sp>
      <p:sp>
        <p:nvSpPr>
          <p:cNvPr id="3" name="">
            <a:extLst xmlns:a="http://schemas.openxmlformats.org/drawingml/2006/main">
              <a:ext uri="{FF2B5EF4-FFF2-40B4-BE49-F238E27FC236}">
                <a16:creationId xmlns:a16="http://schemas.microsoft.com/office/drawing/2014/main" id="{26D4AAD3-6DBB-4FDA-BE76-36C924A1C6E5}"/>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04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c1f40b0808f4ee5"/>
          <a:stretch xmlns:a="http://schemas.openxmlformats.org/drawingml/2006/main"/>
        </p:blipFill>
        <p:spPr>
          <a:xfrm xmlns:a="http://schemas.openxmlformats.org/drawingml/2006/main">
            <a:off x="1649370" y="1581150"/>
            <a:ext cx="8759910" cy="4324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2DDDCD6-9686-46D3-9794-5FBD69C4FDF2}"/>
              </a:ext>
            </a:extLst>
          </p:cNvPr>
          <p:cNvSpPr>
            <a:spLocks xmlns:a="http://schemas.openxmlformats.org/drawingml/2006/main" noGrp="1"/>
          </p:cNvSpPr>
          <p:nvPr/>
        </p:nvSpPr>
        <p:spPr>
          <a:xfrm xmlns:a="http://schemas.openxmlformats.org/drawingml/2006/main">
            <a:off x="552450" y="60198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Next validation: operating point, readout calibration and displacement response.</a:t>
            </a:r>
          </a:p>
        </p:txBody>
      </p:sp>
    </p:spTree>
    <p:extLst>
      <p:ext uri="{BB962C8B-B14F-4D97-AF65-F5344CB8AC3E}">
        <p14:creationId xmlns:p14="http://schemas.microsoft.com/office/powerpoint/2010/main" val="3927245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A877C3-97F4-4FF3-B366-21A35C5BE2F9}"/>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Existing Gaussian beam diagnostics</a:t>
            </a:r>
          </a:p>
        </p:txBody>
      </p:sp>
      <p:sp>
        <p:nvSpPr>
          <p:cNvPr id="2" name="">
            <a:extLst xmlns:a="http://schemas.openxmlformats.org/drawingml/2006/main">
              <a:ext uri="{FF2B5EF4-FFF2-40B4-BE49-F238E27FC236}">
                <a16:creationId xmlns:a16="http://schemas.microsoft.com/office/drawing/2014/main" id="{24568115-CF87-41D6-8AA0-94CFBFF3C02D}"/>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Reference X-arm trace, with beam size, Gouy phase and wavefront curvature</a:t>
            </a:r>
          </a:p>
        </p:txBody>
      </p:sp>
      <p:sp>
        <p:nvSpPr>
          <p:cNvPr id="3" name="">
            <a:extLst xmlns:a="http://schemas.openxmlformats.org/drawingml/2006/main">
              <a:ext uri="{FF2B5EF4-FFF2-40B4-BE49-F238E27FC236}">
                <a16:creationId xmlns:a16="http://schemas.microsoft.com/office/drawing/2014/main" id="{F58B6FDB-6396-47BC-816E-721C659D6E05}"/>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a7dcffffd14314"/>
          <a:stretch xmlns:a="http://schemas.openxmlformats.org/drawingml/2006/main"/>
        </p:blipFill>
        <p:spPr>
          <a:xfrm xmlns:a="http://schemas.openxmlformats.org/drawingml/2006/main">
            <a:off x="489156" y="1543050"/>
            <a:ext cx="7651339" cy="490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175D41-4043-4CA6-9E40-F978708D02EC}"/>
              </a:ext>
            </a:extLst>
          </p:cNvPr>
          <p:cNvSpPr>
            <a:spLocks xmlns:a="http://schemas.openxmlformats.org/drawingml/2006/main" noGrp="1"/>
          </p:cNvSpPr>
          <p:nvPr/>
        </p:nvSpPr>
        <p:spPr>
          <a:xfrm xmlns:a="http://schemas.openxmlformats.org/drawingml/2006/main">
            <a:off x="8553450" y="18002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Model context</a:t>
            </a:r>
          </a:p>
        </p:txBody>
      </p:sp>
      <p:sp>
        <p:nvSpPr>
          <p:cNvPr id="6" name="">
            <a:extLst xmlns:a="http://schemas.openxmlformats.org/drawingml/2006/main">
              <a:ext uri="{FF2B5EF4-FFF2-40B4-BE49-F238E27FC236}">
                <a16:creationId xmlns:a16="http://schemas.microsoft.com/office/drawing/2014/main" id="{F9F2C112-D7A9-454B-8CAB-354637751202}"/>
              </a:ext>
            </a:extLst>
          </p:cNvPr>
          <p:cNvSpPr>
            <a:spLocks xmlns:a="http://schemas.openxmlformats.org/drawingml/2006/main" noGrp="1"/>
          </p:cNvSpPr>
          <p:nvPr/>
        </p:nvSpPr>
        <p:spPr>
          <a:xfrm xmlns:a="http://schemas.openxmlformats.org/drawingml/2006/main">
            <a:off x="8553450" y="22098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Existing 1064 nm</a:t>
            </a:r>
          </a:p>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configuration</a:t>
            </a:r>
          </a:p>
        </p:txBody>
      </p:sp>
      <p:sp>
        <p:nvSpPr>
          <p:cNvPr id="7" name="">
            <a:extLst xmlns:a="http://schemas.openxmlformats.org/drawingml/2006/main">
              <a:ext uri="{FF2B5EF4-FFF2-40B4-BE49-F238E27FC236}">
                <a16:creationId xmlns:a16="http://schemas.microsoft.com/office/drawing/2014/main" id="{985A95A9-6034-463F-ADFD-6F6707369CED}"/>
              </a:ext>
            </a:extLst>
          </p:cNvPr>
          <p:cNvSpPr>
            <a:spLocks xmlns:a="http://schemas.openxmlformats.org/drawingml/2006/main" noGrp="1"/>
          </p:cNvSpPr>
          <p:nvPr/>
        </p:nvSpPr>
        <p:spPr>
          <a:xfrm xmlns:a="http://schemas.openxmlformats.org/drawingml/2006/main">
            <a:off x="8553450" y="34575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Next comparison</a:t>
            </a:r>
          </a:p>
        </p:txBody>
      </p:sp>
      <p:sp>
        <p:nvSpPr>
          <p:cNvPr id="8" name="">
            <a:extLst xmlns:a="http://schemas.openxmlformats.org/drawingml/2006/main">
              <a:ext uri="{FF2B5EF4-FFF2-40B4-BE49-F238E27FC236}">
                <a16:creationId xmlns:a16="http://schemas.microsoft.com/office/drawing/2014/main" id="{09315071-C227-49AD-8AEB-8C863104C086}"/>
              </a:ext>
            </a:extLst>
          </p:cNvPr>
          <p:cNvSpPr>
            <a:spLocks xmlns:a="http://schemas.openxmlformats.org/drawingml/2006/main" noGrp="1"/>
          </p:cNvSpPr>
          <p:nvPr/>
        </p:nvSpPr>
        <p:spPr>
          <a:xfrm xmlns:a="http://schemas.openxmlformats.org/drawingml/2006/main">
            <a:off x="8553450" y="386715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1550 nm bench rerun</a:t>
            </a:r>
          </a:p>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with documented inputs</a:t>
            </a:r>
          </a:p>
        </p:txBody>
      </p:sp>
      <p:sp>
        <p:nvSpPr>
          <p:cNvPr id="9" name="">
            <a:extLst xmlns:a="http://schemas.openxmlformats.org/drawingml/2006/main">
              <a:ext uri="{FF2B5EF4-FFF2-40B4-BE49-F238E27FC236}">
                <a16:creationId xmlns:a16="http://schemas.microsoft.com/office/drawing/2014/main" id="{39E8380B-8F84-4370-9EF4-F10F455804CC}"/>
              </a:ext>
            </a:extLst>
          </p:cNvPr>
          <p:cNvSpPr>
            <a:spLocks xmlns:a="http://schemas.openxmlformats.org/drawingml/2006/main" noGrp="1"/>
          </p:cNvSpPr>
          <p:nvPr/>
        </p:nvSpPr>
        <p:spPr>
          <a:xfrm xmlns:a="http://schemas.openxmlformats.org/drawingml/2006/main">
            <a:off x="8553450" y="5429250"/>
            <a:ext cx="295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D7078"/>
                </a:solidFill>
                <a:latin typeface="Aptos"/>
                <a:ea typeface="Aptos"/>
                <a:cs typeface="Aptos"/>
              </a:defRPr>
            </a:pPr>
            <a:r>
              <a:rPr sz="1725" b="0">
                <a:solidFill>
                  <a:srgbClr val="5D7078"/>
                </a:solidFill>
                <a:latin typeface="Aptos"/>
                <a:ea typeface="Aptos"/>
                <a:cs typeface="Aptos"/>
              </a:rPr>
              <a:t>[Add run ID after reproduction]</a:t>
            </a:r>
          </a:p>
        </p:txBody>
      </p:sp>
    </p:spTree>
    <p:extLst>
      <p:ext uri="{BB962C8B-B14F-4D97-AF65-F5344CB8AC3E}">
        <p14:creationId xmlns:p14="http://schemas.microsoft.com/office/powerpoint/2010/main" val="16550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F9EF6C-47BD-4F9C-8E60-56C26DD793D1}"/>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Preliminary noise study</a:t>
            </a:r>
          </a:p>
        </p:txBody>
      </p:sp>
      <p:sp>
        <p:nvSpPr>
          <p:cNvPr id="2" name="">
            <a:extLst xmlns:a="http://schemas.openxmlformats.org/drawingml/2006/main">
              <a:ext uri="{FF2B5EF4-FFF2-40B4-BE49-F238E27FC236}">
                <a16:creationId xmlns:a16="http://schemas.microsoft.com/office/drawing/2014/main" id="{E45668F5-86F5-4136-8422-A9AE4ABAF053}"/>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Archived scenario from the existing presentation</a:t>
            </a:r>
          </a:p>
        </p:txBody>
      </p:sp>
      <p:sp>
        <p:nvSpPr>
          <p:cNvPr id="3" name="">
            <a:extLst xmlns:a="http://schemas.openxmlformats.org/drawingml/2006/main">
              <a:ext uri="{FF2B5EF4-FFF2-40B4-BE49-F238E27FC236}">
                <a16:creationId xmlns:a16="http://schemas.microsoft.com/office/drawing/2014/main" id="{8176A033-9768-4972-8F37-5845E610F01A}"/>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06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f15dfd650d54310"/>
          <a:stretch xmlns:a="http://schemas.openxmlformats.org/drawingml/2006/main"/>
        </p:blipFill>
        <p:spPr>
          <a:xfrm xmlns:a="http://schemas.openxmlformats.org/drawingml/2006/main">
            <a:off x="664565" y="1524000"/>
            <a:ext cx="7262421" cy="4914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820EF2-9BD0-4E0B-BD19-EE3536028D8C}"/>
              </a:ext>
            </a:extLst>
          </p:cNvPr>
          <p:cNvSpPr>
            <a:spLocks xmlns:a="http://schemas.openxmlformats.org/drawingml/2006/main" noGrp="1"/>
          </p:cNvSpPr>
          <p:nvPr/>
        </p:nvSpPr>
        <p:spPr>
          <a:xfrm xmlns:a="http://schemas.openxmlformats.org/drawingml/2006/main">
            <a:off x="8534400" y="1762125"/>
            <a:ext cx="3019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Status</a:t>
            </a:r>
          </a:p>
        </p:txBody>
      </p:sp>
      <p:sp>
        <p:nvSpPr>
          <p:cNvPr id="6" name="">
            <a:extLst xmlns:a="http://schemas.openxmlformats.org/drawingml/2006/main">
              <a:ext uri="{FF2B5EF4-FFF2-40B4-BE49-F238E27FC236}">
                <a16:creationId xmlns:a16="http://schemas.microsoft.com/office/drawing/2014/main" id="{F66A58E3-DFA6-4359-BAB9-6E0C0CFAF417}"/>
              </a:ext>
            </a:extLst>
          </p:cNvPr>
          <p:cNvSpPr>
            <a:spLocks xmlns:a="http://schemas.openxmlformats.org/drawingml/2006/main" noGrp="1"/>
          </p:cNvSpPr>
          <p:nvPr/>
        </p:nvSpPr>
        <p:spPr>
          <a:xfrm xmlns:a="http://schemas.openxmlformats.org/drawingml/2006/main">
            <a:off x="8534400" y="2171700"/>
            <a:ext cx="30194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Assumed coupling</a:t>
            </a:r>
          </a:p>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and noise scenarios</a:t>
            </a:r>
          </a:p>
        </p:txBody>
      </p:sp>
      <p:sp>
        <p:nvSpPr>
          <p:cNvPr id="7" name="">
            <a:extLst xmlns:a="http://schemas.openxmlformats.org/drawingml/2006/main">
              <a:ext uri="{FF2B5EF4-FFF2-40B4-BE49-F238E27FC236}">
                <a16:creationId xmlns:a16="http://schemas.microsoft.com/office/drawing/2014/main" id="{A0E2AF8A-080C-4CCE-8FAD-43BDAC2C0865}"/>
              </a:ext>
            </a:extLst>
          </p:cNvPr>
          <p:cNvSpPr>
            <a:spLocks xmlns:a="http://schemas.openxmlformats.org/drawingml/2006/main" noGrp="1"/>
          </p:cNvSpPr>
          <p:nvPr/>
        </p:nvSpPr>
        <p:spPr>
          <a:xfrm xmlns:a="http://schemas.openxmlformats.org/drawingml/2006/main">
            <a:off x="8534400" y="3476625"/>
            <a:ext cx="3019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Seismic limitation</a:t>
            </a:r>
          </a:p>
        </p:txBody>
      </p:sp>
      <p:sp>
        <p:nvSpPr>
          <p:cNvPr id="8" name="">
            <a:extLst xmlns:a="http://schemas.openxmlformats.org/drawingml/2006/main">
              <a:ext uri="{FF2B5EF4-FFF2-40B4-BE49-F238E27FC236}">
                <a16:creationId xmlns:a16="http://schemas.microsoft.com/office/drawing/2014/main" id="{DAF61A69-D199-40D1-8A81-A578997FDFD2}"/>
              </a:ext>
            </a:extLst>
          </p:cNvPr>
          <p:cNvSpPr>
            <a:spLocks xmlns:a="http://schemas.openxmlformats.org/drawingml/2006/main" noGrp="1"/>
          </p:cNvSpPr>
          <p:nvPr/>
        </p:nvSpPr>
        <p:spPr>
          <a:xfrm xmlns:a="http://schemas.openxmlformats.org/drawingml/2006/main">
            <a:off x="8534400" y="3886200"/>
            <a:ext cx="30194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Sensor-floor and subtraction</a:t>
            </a:r>
          </a:p>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curves need validation</a:t>
            </a:r>
          </a:p>
        </p:txBody>
      </p:sp>
      <p:sp>
        <p:nvSpPr>
          <p:cNvPr id="9" name="">
            <a:extLst xmlns:a="http://schemas.openxmlformats.org/drawingml/2006/main">
              <a:ext uri="{FF2B5EF4-FFF2-40B4-BE49-F238E27FC236}">
                <a16:creationId xmlns:a16="http://schemas.microsoft.com/office/drawing/2014/main" id="{1B76582B-6F9A-4CB5-8A73-94148C73A8DE}"/>
              </a:ext>
            </a:extLst>
          </p:cNvPr>
          <p:cNvSpPr>
            <a:spLocks xmlns:a="http://schemas.openxmlformats.org/drawingml/2006/main" noGrp="1"/>
          </p:cNvSpPr>
          <p:nvPr/>
        </p:nvSpPr>
        <p:spPr>
          <a:xfrm xmlns:a="http://schemas.openxmlformats.org/drawingml/2006/main">
            <a:off x="8534400" y="5191125"/>
            <a:ext cx="3000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Replace assumptions with validated inputs and transfer functions.</a:t>
            </a:r>
          </a:p>
        </p:txBody>
      </p:sp>
    </p:spTree>
    <p:extLst>
      <p:ext uri="{BB962C8B-B14F-4D97-AF65-F5344CB8AC3E}">
        <p14:creationId xmlns:p14="http://schemas.microsoft.com/office/powerpoint/2010/main" val="225864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7629E9-DD6C-4C1E-BDA9-E0425CD938B3}"/>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Research sequence</a:t>
            </a:r>
          </a:p>
        </p:txBody>
      </p:sp>
      <p:sp>
        <p:nvSpPr>
          <p:cNvPr id="2" name="">
            <a:extLst xmlns:a="http://schemas.openxmlformats.org/drawingml/2006/main">
              <a:ext uri="{FF2B5EF4-FFF2-40B4-BE49-F238E27FC236}">
                <a16:creationId xmlns:a16="http://schemas.microsoft.com/office/drawing/2014/main" id="{69FB3829-C96A-4CC1-BE56-C70CB3B249A2}"/>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Stages advance when the required model or evidence is ready</a:t>
            </a:r>
          </a:p>
        </p:txBody>
      </p:sp>
      <p:sp>
        <p:nvSpPr>
          <p:cNvPr id="3" name="">
            <a:extLst xmlns:a="http://schemas.openxmlformats.org/drawingml/2006/main">
              <a:ext uri="{FF2B5EF4-FFF2-40B4-BE49-F238E27FC236}">
                <a16:creationId xmlns:a16="http://schemas.microsoft.com/office/drawing/2014/main" id="{96F18551-98E5-4F03-926F-3B0FB97EDE3A}"/>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07</a:t>
            </a:r>
          </a:p>
        </p:txBody>
      </p:sp>
      <p:graphicFrame>
        <p:nvGraphicFramePr>
          <p:cNvPr id="10" name=""/>
          <p:cNvGraphicFramePr/>
          <p:nvPr/>
        </p:nvGraphicFramePr>
        <p:xfrm>
          <a:off xmlns:a="http://schemas.openxmlformats.org/drawingml/2006/main" x="533400" y="1657350"/>
          <a:ext xmlns:a="http://schemas.openxmlformats.org/drawingml/2006/main" cx="11125200" cy="4114800"/>
        </p:xfrm>
        <a:graphic xmlns:a="http://schemas.openxmlformats.org/drawingml/2006/main">
          <a:graphicData uri="http://schemas.openxmlformats.org/drawingml/2006/table">
            <a:tbl>
              <a:tblPr/>
              <a:tblGrid>
                <a:gridCol w="1143000"/>
                <a:gridCol w="4953000"/>
                <a:gridCol w="5029200"/>
              </a:tblGrid>
              <a:tr h="685800">
                <a:tc>
                  <a:txBody>
                    <a:bodyPr>
                      <a:noAutofit/>
                    </a:bodyPr>
                    <a:lstStyle/>
                    <a:p>
                      <a:r>
                        <a:rPr sz="1800" b="1">
                          <a:solidFill>
                            <a:srgbClr val="FFFFFF"/>
                          </a:solidFill>
                          <a:latin typeface="Aptos"/>
                          <a:ea typeface="Aptos"/>
                          <a:cs typeface="Aptos"/>
                        </a:rPr>
                        <a:t>Stage</a:t>
                      </a:r>
                    </a:p>
                  </a:txBody>
                  <a:tcPr marL="133350" marR="133350" marT="95250" marB="95250">
                    <a:solidFill>
                      <a:srgbClr val="007F86"/>
                    </a:solidFill>
                  </a:tcPr>
                </a:tc>
                <a:tc>
                  <a:txBody>
                    <a:bodyPr>
                      <a:noAutofit/>
                    </a:bodyPr>
                    <a:lstStyle/>
                    <a:p>
                      <a:r>
                        <a:rPr sz="1800" b="1">
                          <a:solidFill>
                            <a:srgbClr val="FFFFFF"/>
                          </a:solidFill>
                          <a:latin typeface="Aptos"/>
                          <a:ea typeface="Aptos"/>
                          <a:cs typeface="Aptos"/>
                        </a:rPr>
                        <a:t>Main work</a:t>
                      </a:r>
                    </a:p>
                  </a:txBody>
                  <a:tcPr marL="133350" marR="133350" marT="95250" marB="95250">
                    <a:solidFill>
                      <a:srgbClr val="007F86"/>
                    </a:solidFill>
                  </a:tcPr>
                </a:tc>
                <a:tc>
                  <a:txBody>
                    <a:bodyPr>
                      <a:noAutofit/>
                    </a:bodyPr>
                    <a:lstStyle/>
                    <a:p>
                      <a:r>
                        <a:rPr sz="1800" b="1">
                          <a:solidFill>
                            <a:srgbClr val="FFFFFF"/>
                          </a:solidFill>
                          <a:latin typeface="Aptos"/>
                          <a:ea typeface="Aptos"/>
                          <a:cs typeface="Aptos"/>
                        </a:rPr>
                        <a:t>Reviewable output</a:t>
                      </a:r>
                    </a:p>
                  </a:txBody>
                  <a:tcPr marL="133350" marR="133350" marT="95250" marB="95250">
                    <a:solidFill>
                      <a:srgbClr val="007F86"/>
                    </a:solidFill>
                  </a:tcPr>
                </a:tc>
              </a:tr>
              <a:tr h="685800">
                <a:tc>
                  <a:txBody>
                    <a:bodyPr>
                      <a:noAutofit/>
                    </a:bodyPr>
                    <a:lstStyle/>
                    <a:p>
                      <a:r>
                        <a:rPr sz="1800" b="1">
                          <a:solidFill>
                            <a:srgbClr val="007F86"/>
                          </a:solidFill>
                          <a:latin typeface="Aptos"/>
                          <a:ea typeface="Aptos"/>
                          <a:cs typeface="Aptos"/>
                        </a:rPr>
                        <a:t>1</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Reference curves and science cases</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Assumptions and SNR requirements</a:t>
                      </a:r>
                    </a:p>
                  </a:txBody>
                  <a:tcPr marL="133350" marR="133350" marT="95250" marB="95250">
                    <a:solidFill>
                      <a:srgbClr val="EAF8F8"/>
                    </a:solidFill>
                  </a:tcPr>
                </a:tc>
              </a:tr>
              <a:tr h="685800">
                <a:tc>
                  <a:txBody>
                    <a:bodyPr>
                      <a:noAutofit/>
                    </a:bodyPr>
                    <a:lstStyle/>
                    <a:p>
                      <a:r>
                        <a:rPr sz="1800" b="1">
                          <a:solidFill>
                            <a:srgbClr val="007F86"/>
                          </a:solidFill>
                          <a:latin typeface="Aptos"/>
                          <a:ea typeface="Aptos"/>
                          <a:cs typeface="Aptos"/>
                        </a:rPr>
                        <a:t>2</a:t>
                      </a:r>
                    </a:p>
                  </a:txBody>
                  <a:tcPr marL="133350" marR="133350" marT="95250" marB="95250">
                    <a:solidFill>
                      <a:srgbClr val="FFFFFF"/>
                    </a:solidFill>
                  </a:tcPr>
                </a:tc>
                <a:tc>
                  <a:txBody>
                    <a:bodyPr>
                      <a:noAutofit/>
                    </a:bodyPr>
                    <a:lstStyle/>
                    <a:p>
                      <a:r>
                        <a:rPr sz="1800" b="0">
                          <a:solidFill>
                            <a:srgbClr val="17343E"/>
                          </a:solidFill>
                          <a:latin typeface="Aptos"/>
                          <a:ea typeface="Aptos"/>
                          <a:cs typeface="Aptos"/>
                        </a:rPr>
                        <a:t>Optical response and link budget</a:t>
                      </a:r>
                    </a:p>
                  </a:txBody>
                  <a:tcPr marL="133350" marR="133350" marT="95250" marB="95250">
                    <a:solidFill>
                      <a:srgbClr val="FFFFFF"/>
                    </a:solidFill>
                  </a:tcPr>
                </a:tc>
                <a:tc>
                  <a:txBody>
                    <a:bodyPr>
                      <a:noAutofit/>
                    </a:bodyPr>
                    <a:lstStyle/>
                    <a:p>
                      <a:r>
                        <a:rPr sz="1800" b="0">
                          <a:solidFill>
                            <a:srgbClr val="17343E"/>
                          </a:solidFill>
                          <a:latin typeface="Aptos"/>
                          <a:ea typeface="Aptos"/>
                          <a:cs typeface="Aptos"/>
                        </a:rPr>
                        <a:t>Validated model and received power</a:t>
                      </a:r>
                    </a:p>
                  </a:txBody>
                  <a:tcPr marL="133350" marR="133350" marT="95250" marB="95250">
                    <a:solidFill>
                      <a:srgbClr val="FFFFFF"/>
                    </a:solidFill>
                  </a:tcPr>
                </a:tc>
              </a:tr>
              <a:tr h="685800">
                <a:tc>
                  <a:txBody>
                    <a:bodyPr>
                      <a:noAutofit/>
                    </a:bodyPr>
                    <a:lstStyle/>
                    <a:p>
                      <a:r>
                        <a:rPr sz="1800" b="1">
                          <a:solidFill>
                            <a:srgbClr val="007F86"/>
                          </a:solidFill>
                          <a:latin typeface="Aptos"/>
                          <a:ea typeface="Aptos"/>
                          <a:cs typeface="Aptos"/>
                        </a:rPr>
                        <a:t>3</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Noise and seismic coupling</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Component budget and uncertainty</a:t>
                      </a:r>
                    </a:p>
                  </a:txBody>
                  <a:tcPr marL="133350" marR="133350" marT="95250" marB="95250">
                    <a:solidFill>
                      <a:srgbClr val="EAF8F8"/>
                    </a:solidFill>
                  </a:tcPr>
                </a:tc>
              </a:tr>
              <a:tr h="685800">
                <a:tc>
                  <a:txBody>
                    <a:bodyPr>
                      <a:noAutofit/>
                    </a:bodyPr>
                    <a:lstStyle/>
                    <a:p>
                      <a:r>
                        <a:rPr sz="1800" b="1">
                          <a:solidFill>
                            <a:srgbClr val="007F86"/>
                          </a:solidFill>
                          <a:latin typeface="Aptos"/>
                          <a:ea typeface="Aptos"/>
                          <a:cs typeface="Aptos"/>
                        </a:rPr>
                        <a:t>4</a:t>
                      </a:r>
                    </a:p>
                  </a:txBody>
                  <a:tcPr marL="133350" marR="133350" marT="95250" marB="95250">
                    <a:solidFill>
                      <a:srgbClr val="FFFFFF"/>
                    </a:solidFill>
                  </a:tcPr>
                </a:tc>
                <a:tc>
                  <a:txBody>
                    <a:bodyPr>
                      <a:noAutofit/>
                    </a:bodyPr>
                    <a:lstStyle/>
                    <a:p>
                      <a:r>
                        <a:rPr sz="1800" b="0">
                          <a:solidFill>
                            <a:srgbClr val="17343E"/>
                          </a:solidFill>
                          <a:latin typeface="Aptos"/>
                          <a:ea typeface="Aptos"/>
                          <a:cs typeface="Aptos"/>
                        </a:rPr>
                        <a:t>Lunar response and inverse limits</a:t>
                      </a:r>
                    </a:p>
                  </a:txBody>
                  <a:tcPr marL="133350" marR="133350" marT="95250" marB="95250">
                    <a:solidFill>
                      <a:srgbClr val="FFFFFF"/>
                    </a:solidFill>
                  </a:tcPr>
                </a:tc>
                <a:tc>
                  <a:txBody>
                    <a:bodyPr>
                      <a:noAutofit/>
                    </a:bodyPr>
                    <a:lstStyle/>
                    <a:p>
                      <a:r>
                        <a:rPr sz="1800" b="0">
                          <a:solidFill>
                            <a:srgbClr val="17343E"/>
                          </a:solidFill>
                          <a:latin typeface="Aptos"/>
                          <a:ea typeface="Aptos"/>
                          <a:cs typeface="Aptos"/>
                        </a:rPr>
                        <a:t>SNR and allowable seismic residual</a:t>
                      </a:r>
                    </a:p>
                  </a:txBody>
                  <a:tcPr marL="133350" marR="133350" marT="95250" marB="95250">
                    <a:solidFill>
                      <a:srgbClr val="FFFFFF"/>
                    </a:solidFill>
                  </a:tcPr>
                </a:tc>
              </a:tr>
              <a:tr h="685800">
                <a:tc>
                  <a:txBody>
                    <a:bodyPr>
                      <a:noAutofit/>
                    </a:bodyPr>
                    <a:lstStyle/>
                    <a:p>
                      <a:r>
                        <a:rPr sz="1800" b="1">
                          <a:solidFill>
                            <a:srgbClr val="007F86"/>
                          </a:solidFill>
                          <a:latin typeface="Aptos"/>
                          <a:ea typeface="Aptos"/>
                          <a:cs typeface="Aptos"/>
                        </a:rPr>
                        <a:t>5</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Mitigation tests and integration</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Requirements and remaining gaps</a:t>
                      </a:r>
                    </a:p>
                  </a:txBody>
                  <a:tcPr marL="133350" marR="133350" marT="95250" marB="95250">
                    <a:solidFill>
                      <a:srgbClr val="EAF8F8"/>
                    </a:solidFill>
                  </a:tcPr>
                </a:tc>
              </a:tr>
            </a:tbl>
          </a:graphicData>
        </a:graphic>
      </p:graphicFrame>
    </p:spTree>
    <p:extLst>
      <p:ext uri="{BB962C8B-B14F-4D97-AF65-F5344CB8AC3E}">
        <p14:creationId xmlns:p14="http://schemas.microsoft.com/office/powerpoint/2010/main" val="15334227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AF330A-7F13-48FA-AEFF-CBB2117B3283}"/>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Weekly update</a:t>
            </a:r>
          </a:p>
        </p:txBody>
      </p:sp>
      <p:sp>
        <p:nvSpPr>
          <p:cNvPr id="2" name="">
            <a:extLst xmlns:a="http://schemas.openxmlformats.org/drawingml/2006/main">
              <a:ext uri="{FF2B5EF4-FFF2-40B4-BE49-F238E27FC236}">
                <a16:creationId xmlns:a16="http://schemas.microsoft.com/office/drawing/2014/main" id="{2D233720-5797-464A-99D2-AD2582A536B7}"/>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Week of [date]     Model or run [ID]</a:t>
            </a:r>
          </a:p>
        </p:txBody>
      </p:sp>
      <p:sp>
        <p:nvSpPr>
          <p:cNvPr id="3" name="">
            <a:extLst xmlns:a="http://schemas.openxmlformats.org/drawingml/2006/main">
              <a:ext uri="{FF2B5EF4-FFF2-40B4-BE49-F238E27FC236}">
                <a16:creationId xmlns:a16="http://schemas.microsoft.com/office/drawing/2014/main" id="{DF158533-4DAF-467A-AD38-851435C7320D}"/>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824BC896-0A54-4D4D-9915-5C790C44F35B}"/>
              </a:ext>
            </a:extLst>
          </p:cNvPr>
          <p:cNvSpPr>
            <a:spLocks xmlns:a="http://schemas.openxmlformats.org/drawingml/2006/main" noGrp="1"/>
          </p:cNvSpPr>
          <p:nvPr/>
        </p:nvSpPr>
        <p:spPr>
          <a:xfrm xmlns:a="http://schemas.openxmlformats.org/drawingml/2006/main">
            <a:off x="552450" y="17907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Main result</a:t>
            </a:r>
          </a:p>
        </p:txBody>
      </p:sp>
      <p:sp>
        <p:nvSpPr>
          <p:cNvPr id="5" name="">
            <a:extLst xmlns:a="http://schemas.openxmlformats.org/drawingml/2006/main">
              <a:ext uri="{FF2B5EF4-FFF2-40B4-BE49-F238E27FC236}">
                <a16:creationId xmlns:a16="http://schemas.microsoft.com/office/drawing/2014/main" id="{82460D1D-7B13-45F7-8044-583551B15D0E}"/>
              </a:ext>
            </a:extLst>
          </p:cNvPr>
          <p:cNvSpPr>
            <a:spLocks xmlns:a="http://schemas.openxmlformats.org/drawingml/2006/main" noGrp="1"/>
          </p:cNvSpPr>
          <p:nvPr/>
        </p:nvSpPr>
        <p:spPr>
          <a:xfrm xmlns:a="http://schemas.openxmlformats.org/drawingml/2006/main">
            <a:off x="552450" y="220027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[One finding supported by this week’s plots]</a:t>
            </a:r>
          </a:p>
        </p:txBody>
      </p:sp>
      <p:sp>
        <p:nvSpPr>
          <p:cNvPr id="6" name="">
            <a:extLst xmlns:a="http://schemas.openxmlformats.org/drawingml/2006/main">
              <a:ext uri="{FF2B5EF4-FFF2-40B4-BE49-F238E27FC236}">
                <a16:creationId xmlns:a16="http://schemas.microsoft.com/office/drawing/2014/main" id="{B9EB2A74-1CE9-496C-B009-B562BEA7B9A1}"/>
              </a:ext>
            </a:extLst>
          </p:cNvPr>
          <p:cNvSpPr>
            <a:spLocks xmlns:a="http://schemas.openxmlformats.org/drawingml/2006/main" noGrp="1"/>
          </p:cNvSpPr>
          <p:nvPr/>
        </p:nvSpPr>
        <p:spPr>
          <a:xfrm xmlns:a="http://schemas.openxmlformats.org/drawingml/2006/main">
            <a:off x="6496050" y="17907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Changes since last week</a:t>
            </a:r>
          </a:p>
        </p:txBody>
      </p:sp>
      <p:sp>
        <p:nvSpPr>
          <p:cNvPr id="7" name="">
            <a:extLst xmlns:a="http://schemas.openxmlformats.org/drawingml/2006/main">
              <a:ext uri="{FF2B5EF4-FFF2-40B4-BE49-F238E27FC236}">
                <a16:creationId xmlns:a16="http://schemas.microsoft.com/office/drawing/2014/main" id="{E9B21F4B-649D-4AD5-938B-C8E050AE8206}"/>
              </a:ext>
            </a:extLst>
          </p:cNvPr>
          <p:cNvSpPr>
            <a:spLocks xmlns:a="http://schemas.openxmlformats.org/drawingml/2006/main" noGrp="1"/>
          </p:cNvSpPr>
          <p:nvPr/>
        </p:nvSpPr>
        <p:spPr>
          <a:xfrm xmlns:a="http://schemas.openxmlformats.org/drawingml/2006/main">
            <a:off x="6496050" y="220027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[Parameters, model terms or data added]</a:t>
            </a:r>
          </a:p>
        </p:txBody>
      </p:sp>
      <p:sp>
        <p:nvSpPr>
          <p:cNvPr id="8" name="">
            <a:extLst xmlns:a="http://schemas.openxmlformats.org/drawingml/2006/main">
              <a:ext uri="{FF2B5EF4-FFF2-40B4-BE49-F238E27FC236}">
                <a16:creationId xmlns:a16="http://schemas.microsoft.com/office/drawing/2014/main" id="{E8CB9AD6-9FB6-4123-B222-92A01B401F9C}"/>
              </a:ext>
            </a:extLst>
          </p:cNvPr>
          <p:cNvSpPr>
            <a:spLocks xmlns:a="http://schemas.openxmlformats.org/drawingml/2006/main" noGrp="1"/>
          </p:cNvSpPr>
          <p:nvPr/>
        </p:nvSpPr>
        <p:spPr>
          <a:xfrm xmlns:a="http://schemas.openxmlformats.org/drawingml/2006/main">
            <a:off x="552450" y="386715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Largest uncertainty</a:t>
            </a:r>
          </a:p>
        </p:txBody>
      </p:sp>
      <p:sp>
        <p:nvSpPr>
          <p:cNvPr id="9" name="">
            <a:extLst xmlns:a="http://schemas.openxmlformats.org/drawingml/2006/main">
              <a:ext uri="{FF2B5EF4-FFF2-40B4-BE49-F238E27FC236}">
                <a16:creationId xmlns:a16="http://schemas.microsoft.com/office/drawing/2014/main" id="{F0822A15-5449-4123-BB1B-99CD79F74143}"/>
              </a:ext>
            </a:extLst>
          </p:cNvPr>
          <p:cNvSpPr>
            <a:spLocks xmlns:a="http://schemas.openxmlformats.org/drawingml/2006/main" noGrp="1"/>
          </p:cNvSpPr>
          <p:nvPr/>
        </p:nvSpPr>
        <p:spPr>
          <a:xfrm xmlns:a="http://schemas.openxmlformats.org/drawingml/2006/main">
            <a:off x="552450" y="427672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[Unresolved coupling or missing input]</a:t>
            </a:r>
          </a:p>
        </p:txBody>
      </p:sp>
      <p:sp>
        <p:nvSpPr>
          <p:cNvPr id="10" name="">
            <a:extLst xmlns:a="http://schemas.openxmlformats.org/drawingml/2006/main">
              <a:ext uri="{FF2B5EF4-FFF2-40B4-BE49-F238E27FC236}">
                <a16:creationId xmlns:a16="http://schemas.microsoft.com/office/drawing/2014/main" id="{BE0F12F2-572F-4C1F-94F7-2DB3D050CA72}"/>
              </a:ext>
            </a:extLst>
          </p:cNvPr>
          <p:cNvSpPr>
            <a:spLocks xmlns:a="http://schemas.openxmlformats.org/drawingml/2006/main" noGrp="1"/>
          </p:cNvSpPr>
          <p:nvPr/>
        </p:nvSpPr>
        <p:spPr>
          <a:xfrm xmlns:a="http://schemas.openxmlformats.org/drawingml/2006/main">
            <a:off x="6496050" y="386715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Decision needed</a:t>
            </a:r>
          </a:p>
        </p:txBody>
      </p:sp>
      <p:sp>
        <p:nvSpPr>
          <p:cNvPr id="11" name="">
            <a:extLst xmlns:a="http://schemas.openxmlformats.org/drawingml/2006/main">
              <a:ext uri="{FF2B5EF4-FFF2-40B4-BE49-F238E27FC236}">
                <a16:creationId xmlns:a16="http://schemas.microsoft.com/office/drawing/2014/main" id="{58B04D9C-AF53-418D-8236-E5E045F15456}"/>
              </a:ext>
            </a:extLst>
          </p:cNvPr>
          <p:cNvSpPr>
            <a:spLocks xmlns:a="http://schemas.openxmlformats.org/drawingml/2006/main" noGrp="1"/>
          </p:cNvSpPr>
          <p:nvPr/>
        </p:nvSpPr>
        <p:spPr>
          <a:xfrm xmlns:a="http://schemas.openxmlformats.org/drawingml/2006/main">
            <a:off x="6496050" y="427672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[Specific question for the group]</a:t>
            </a:r>
          </a:p>
        </p:txBody>
      </p:sp>
    </p:spTree>
    <p:extLst>
      <p:ext uri="{BB962C8B-B14F-4D97-AF65-F5344CB8AC3E}">
        <p14:creationId xmlns:p14="http://schemas.microsoft.com/office/powerpoint/2010/main" val="3308839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A60A08-4FEF-416E-ACC7-E82B7A20CFB4}"/>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Optical model update</a:t>
            </a:r>
          </a:p>
        </p:txBody>
      </p:sp>
      <p:sp>
        <p:nvSpPr>
          <p:cNvPr id="2" name="">
            <a:extLst xmlns:a="http://schemas.openxmlformats.org/drawingml/2006/main">
              <a:ext uri="{FF2B5EF4-FFF2-40B4-BE49-F238E27FC236}">
                <a16:creationId xmlns:a16="http://schemas.microsoft.com/office/drawing/2014/main" id="{B89D6D31-CF32-4FA3-9A1F-CE013813B319}"/>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Week of [date]     Configuration [bench / 1 km iLILA]</a:t>
            </a:r>
          </a:p>
        </p:txBody>
      </p:sp>
      <p:sp>
        <p:nvSpPr>
          <p:cNvPr id="3" name="">
            <a:extLst xmlns:a="http://schemas.openxmlformats.org/drawingml/2006/main">
              <a:ext uri="{FF2B5EF4-FFF2-40B4-BE49-F238E27FC236}">
                <a16:creationId xmlns:a16="http://schemas.microsoft.com/office/drawing/2014/main" id="{CF733FA1-702F-4F5E-B36E-65836EB2265F}"/>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31B65C94-D9CC-4385-8380-A219AA517EF8}"/>
              </a:ext>
            </a:extLst>
          </p:cNvPr>
          <p:cNvSpPr>
            <a:spLocks xmlns:a="http://schemas.openxmlformats.org/drawingml/2006/main" noGrp="1"/>
          </p:cNvSpPr>
          <p:nvPr/>
        </p:nvSpPr>
        <p:spPr>
          <a:xfrm xmlns:a="http://schemas.openxmlformats.org/drawingml/2006/main">
            <a:off x="533400" y="1695450"/>
            <a:ext cx="7762875" cy="37338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Optical layout or response plot ]</a:t>
            </a:r>
          </a:p>
          <a:p xmlns:a="http://schemas.openxmlformats.org/drawingml/2006/main">
            <a:r>
              <a:t/>
            </a:r>
          </a:p>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Insert plot here</a:t>
            </a:r>
          </a:p>
        </p:txBody>
      </p:sp>
      <p:sp>
        <p:nvSpPr>
          <p:cNvPr id="5" name="">
            <a:extLst xmlns:a="http://schemas.openxmlformats.org/drawingml/2006/main">
              <a:ext uri="{FF2B5EF4-FFF2-40B4-BE49-F238E27FC236}">
                <a16:creationId xmlns:a16="http://schemas.microsoft.com/office/drawing/2014/main" id="{17BDBE25-2BB3-4BBF-9EB7-03DA932F15CE}"/>
              </a:ext>
            </a:extLst>
          </p:cNvPr>
          <p:cNvSpPr>
            <a:spLocks xmlns:a="http://schemas.openxmlformats.org/drawingml/2006/main" noGrp="1"/>
          </p:cNvSpPr>
          <p:nvPr/>
        </p:nvSpPr>
        <p:spPr>
          <a:xfrm xmlns:a="http://schemas.openxmlformats.org/drawingml/2006/main">
            <a:off x="8677275" y="17526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Change</a:t>
            </a:r>
          </a:p>
        </p:txBody>
      </p:sp>
      <p:sp>
        <p:nvSpPr>
          <p:cNvPr id="6" name="">
            <a:extLst xmlns:a="http://schemas.openxmlformats.org/drawingml/2006/main">
              <a:ext uri="{FF2B5EF4-FFF2-40B4-BE49-F238E27FC236}">
                <a16:creationId xmlns:a16="http://schemas.microsoft.com/office/drawing/2014/main" id="{355679F3-377B-4527-A782-029322F38C05}"/>
              </a:ext>
            </a:extLst>
          </p:cNvPr>
          <p:cNvSpPr>
            <a:spLocks xmlns:a="http://schemas.openxmlformats.org/drawingml/2006/main" noGrp="1"/>
          </p:cNvSpPr>
          <p:nvPr/>
        </p:nvSpPr>
        <p:spPr>
          <a:xfrm xmlns:a="http://schemas.openxmlformats.org/drawingml/2006/main">
            <a:off x="8677275" y="21621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[Parameter or model change]</a:t>
            </a:r>
          </a:p>
        </p:txBody>
      </p:sp>
      <p:sp>
        <p:nvSpPr>
          <p:cNvPr id="7" name="">
            <a:extLst xmlns:a="http://schemas.openxmlformats.org/drawingml/2006/main">
              <a:ext uri="{FF2B5EF4-FFF2-40B4-BE49-F238E27FC236}">
                <a16:creationId xmlns:a16="http://schemas.microsoft.com/office/drawing/2014/main" id="{BDBEA65B-7EDA-4551-BFC2-CEC16677FC2A}"/>
              </a:ext>
            </a:extLst>
          </p:cNvPr>
          <p:cNvSpPr>
            <a:spLocks xmlns:a="http://schemas.openxmlformats.org/drawingml/2006/main" noGrp="1"/>
          </p:cNvSpPr>
          <p:nvPr/>
        </p:nvSpPr>
        <p:spPr>
          <a:xfrm xmlns:a="http://schemas.openxmlformats.org/drawingml/2006/main">
            <a:off x="8677275" y="318135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Validation</a:t>
            </a:r>
          </a:p>
        </p:txBody>
      </p:sp>
      <p:sp>
        <p:nvSpPr>
          <p:cNvPr id="8" name="">
            <a:extLst xmlns:a="http://schemas.openxmlformats.org/drawingml/2006/main">
              <a:ext uri="{FF2B5EF4-FFF2-40B4-BE49-F238E27FC236}">
                <a16:creationId xmlns:a16="http://schemas.microsoft.com/office/drawing/2014/main" id="{4C524CEB-43D9-4771-9C3F-39BE147E88F8}"/>
              </a:ext>
            </a:extLst>
          </p:cNvPr>
          <p:cNvSpPr>
            <a:spLocks xmlns:a="http://schemas.openxmlformats.org/drawingml/2006/main" noGrp="1"/>
          </p:cNvSpPr>
          <p:nvPr/>
        </p:nvSpPr>
        <p:spPr>
          <a:xfrm xmlns:a="http://schemas.openxmlformats.org/drawingml/2006/main">
            <a:off x="8677275" y="359092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[Analytic or numerical check]</a:t>
            </a:r>
          </a:p>
        </p:txBody>
      </p:sp>
      <p:sp>
        <p:nvSpPr>
          <p:cNvPr id="9" name="">
            <a:extLst xmlns:a="http://schemas.openxmlformats.org/drawingml/2006/main">
              <a:ext uri="{FF2B5EF4-FFF2-40B4-BE49-F238E27FC236}">
                <a16:creationId xmlns:a16="http://schemas.microsoft.com/office/drawing/2014/main" id="{C33B1658-4A29-4B6B-80C4-3C0BA2D021ED}"/>
              </a:ext>
            </a:extLst>
          </p:cNvPr>
          <p:cNvSpPr>
            <a:spLocks xmlns:a="http://schemas.openxmlformats.org/drawingml/2006/main" noGrp="1"/>
          </p:cNvSpPr>
          <p:nvPr/>
        </p:nvSpPr>
        <p:spPr>
          <a:xfrm xmlns:a="http://schemas.openxmlformats.org/drawingml/2006/main">
            <a:off x="8677275" y="46101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Remaining issue</a:t>
            </a:r>
          </a:p>
        </p:txBody>
      </p:sp>
      <p:sp>
        <p:nvSpPr>
          <p:cNvPr id="10" name="">
            <a:extLst xmlns:a="http://schemas.openxmlformats.org/drawingml/2006/main">
              <a:ext uri="{FF2B5EF4-FFF2-40B4-BE49-F238E27FC236}">
                <a16:creationId xmlns:a16="http://schemas.microsoft.com/office/drawing/2014/main" id="{8D35CC9D-BB8F-4DDE-BB41-C9E160237DC0}"/>
              </a:ext>
            </a:extLst>
          </p:cNvPr>
          <p:cNvSpPr>
            <a:spLocks xmlns:a="http://schemas.openxmlformats.org/drawingml/2006/main" noGrp="1"/>
          </p:cNvSpPr>
          <p:nvPr/>
        </p:nvSpPr>
        <p:spPr>
          <a:xfrm xmlns:a="http://schemas.openxmlformats.org/drawingml/2006/main">
            <a:off x="8677275" y="50196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[Calibration or hardware input]</a:t>
            </a:r>
          </a:p>
        </p:txBody>
      </p:sp>
      <p:sp>
        <p:nvSpPr>
          <p:cNvPr id="11" name="">
            <a:extLst xmlns:a="http://schemas.openxmlformats.org/drawingml/2006/main">
              <a:ext uri="{FF2B5EF4-FFF2-40B4-BE49-F238E27FC236}">
                <a16:creationId xmlns:a16="http://schemas.microsoft.com/office/drawing/2014/main" id="{2C225488-8A1C-42CC-AA12-C98C48919853}"/>
              </a:ext>
            </a:extLst>
          </p:cNvPr>
          <p:cNvSpPr>
            <a:spLocks xmlns:a="http://schemas.openxmlformats.org/drawingml/2006/main" noGrp="1"/>
          </p:cNvSpPr>
          <p:nvPr/>
        </p:nvSpPr>
        <p:spPr>
          <a:xfrm xmlns:a="http://schemas.openxmlformats.org/drawingml/2006/main">
            <a:off x="533400" y="5743575"/>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Result: [main finding and its implication]</a:t>
            </a:r>
          </a:p>
        </p:txBody>
      </p:sp>
    </p:spTree>
    <p:extLst>
      <p:ext uri="{BB962C8B-B14F-4D97-AF65-F5344CB8AC3E}">
        <p14:creationId xmlns:p14="http://schemas.microsoft.com/office/powerpoint/2010/main" val="8021206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E7544F-5324-4750-8B0E-BA535B60BFD8}"/>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Noise and coupling register</a:t>
            </a:r>
          </a:p>
        </p:txBody>
      </p:sp>
      <p:sp>
        <p:nvSpPr>
          <p:cNvPr id="2" name="">
            <a:extLst xmlns:a="http://schemas.openxmlformats.org/drawingml/2006/main">
              <a:ext uri="{FF2B5EF4-FFF2-40B4-BE49-F238E27FC236}">
                <a16:creationId xmlns:a16="http://schemas.microsoft.com/office/drawing/2014/main" id="{82E23369-379B-4ED9-AA3B-3905F653741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Each term needs an input spectrum and a path to equivalent displacement</a:t>
            </a:r>
          </a:p>
        </p:txBody>
      </p:sp>
      <p:sp>
        <p:nvSpPr>
          <p:cNvPr id="3" name="">
            <a:extLst xmlns:a="http://schemas.openxmlformats.org/drawingml/2006/main">
              <a:ext uri="{FF2B5EF4-FFF2-40B4-BE49-F238E27FC236}">
                <a16:creationId xmlns:a16="http://schemas.microsoft.com/office/drawing/2014/main" id="{DE379DF1-AA0F-4908-A718-511D81C63448}"/>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10</a:t>
            </a:r>
          </a:p>
        </p:txBody>
      </p:sp>
      <p:graphicFrame>
        <p:nvGraphicFramePr>
          <p:cNvPr id="11" name=""/>
          <p:cNvGraphicFramePr/>
          <p:nvPr/>
        </p:nvGraphicFramePr>
        <p:xfrm>
          <a:off xmlns:a="http://schemas.openxmlformats.org/drawingml/2006/main" x="533400" y="1647825"/>
          <a:ext xmlns:a="http://schemas.openxmlformats.org/drawingml/2006/main" cx="11125200" cy="4095750"/>
        </p:xfrm>
        <a:graphic xmlns:a="http://schemas.openxmlformats.org/drawingml/2006/main">
          <a:graphicData uri="http://schemas.openxmlformats.org/drawingml/2006/table">
            <a:tbl>
              <a:tblPr/>
              <a:tblGrid>
                <a:gridCol w="2114550"/>
                <a:gridCol w="2990850"/>
                <a:gridCol w="3505200"/>
                <a:gridCol w="2514600"/>
              </a:tblGrid>
              <a:tr h="682625">
                <a:tc>
                  <a:txBody>
                    <a:bodyPr>
                      <a:noAutofit/>
                    </a:bodyPr>
                    <a:lstStyle/>
                    <a:p>
                      <a:r>
                        <a:rPr sz="1650" b="1">
                          <a:solidFill>
                            <a:srgbClr val="FFFFFF"/>
                          </a:solidFill>
                          <a:latin typeface="Aptos"/>
                          <a:ea typeface="Aptos"/>
                          <a:cs typeface="Aptos"/>
                        </a:rPr>
                        <a:t>Noise input</a:t>
                      </a:r>
                    </a:p>
                  </a:txBody>
                  <a:tcPr marL="133350" marR="133350" marT="95250" marB="95250">
                    <a:solidFill>
                      <a:srgbClr val="007F86"/>
                    </a:solidFill>
                  </a:tcPr>
                </a:tc>
                <a:tc>
                  <a:txBody>
                    <a:bodyPr>
                      <a:noAutofit/>
                    </a:bodyPr>
                    <a:lstStyle/>
                    <a:p>
                      <a:r>
                        <a:rPr sz="1650" b="1">
                          <a:solidFill>
                            <a:srgbClr val="FFFFFF"/>
                          </a:solidFill>
                          <a:latin typeface="Aptos"/>
                          <a:ea typeface="Aptos"/>
                          <a:cs typeface="Aptos"/>
                        </a:rPr>
                        <a:t>Coupling path</a:t>
                      </a:r>
                    </a:p>
                  </a:txBody>
                  <a:tcPr marL="133350" marR="133350" marT="95250" marB="95250">
                    <a:solidFill>
                      <a:srgbClr val="007F86"/>
                    </a:solidFill>
                  </a:tcPr>
                </a:tc>
                <a:tc>
                  <a:txBody>
                    <a:bodyPr>
                      <a:noAutofit/>
                    </a:bodyPr>
                    <a:lstStyle/>
                    <a:p>
                      <a:r>
                        <a:rPr sz="1650" b="1">
                          <a:solidFill>
                            <a:srgbClr val="FFFFFF"/>
                          </a:solidFill>
                          <a:latin typeface="Aptos"/>
                          <a:ea typeface="Aptos"/>
                          <a:cs typeface="Aptos"/>
                        </a:rPr>
                        <a:t>Evidence / assumption</a:t>
                      </a:r>
                    </a:p>
                  </a:txBody>
                  <a:tcPr marL="133350" marR="133350" marT="95250" marB="95250">
                    <a:solidFill>
                      <a:srgbClr val="007F86"/>
                    </a:solidFill>
                  </a:tcPr>
                </a:tc>
                <a:tc>
                  <a:txBody>
                    <a:bodyPr>
                      <a:noAutofit/>
                    </a:bodyPr>
                    <a:lstStyle/>
                    <a:p>
                      <a:r>
                        <a:rPr sz="1650" b="1">
                          <a:solidFill>
                            <a:srgbClr val="FFFFFF"/>
                          </a:solidFill>
                          <a:latin typeface="Aptos"/>
                          <a:ea typeface="Aptos"/>
                          <a:cs typeface="Aptos"/>
                        </a:rPr>
                        <a:t>Next check</a:t>
                      </a:r>
                    </a:p>
                  </a:txBody>
                  <a:tcPr marL="133350" marR="133350" marT="95250" marB="95250">
                    <a:solidFill>
                      <a:srgbClr val="007F86"/>
                    </a:solidFill>
                  </a:tcPr>
                </a:tc>
              </a:tr>
              <a:tr h="682625">
                <a:tc>
                  <a:txBody>
                    <a:bodyPr>
                      <a:noAutofit/>
                    </a:bodyPr>
                    <a:lstStyle/>
                    <a:p>
                      <a:r>
                        <a:rPr sz="1650" b="1">
                          <a:solidFill>
                            <a:srgbClr val="007F86"/>
                          </a:solidFill>
                          <a:latin typeface="Aptos"/>
                          <a:ea typeface="Aptos"/>
                          <a:cs typeface="Aptos"/>
                        </a:rPr>
                        <a:t>Laser frequency</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Arm mismatch and readout</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[Spectrum / transfer function]</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[Action]</a:t>
                      </a:r>
                    </a:p>
                  </a:txBody>
                  <a:tcPr marL="133350" marR="133350" marT="95250" marB="95250">
                    <a:solidFill>
                      <a:srgbClr val="EAF8F8"/>
                    </a:solidFill>
                  </a:tcPr>
                </a:tc>
              </a:tr>
              <a:tr h="682625">
                <a:tc>
                  <a:txBody>
                    <a:bodyPr>
                      <a:noAutofit/>
                    </a:bodyPr>
                    <a:lstStyle/>
                    <a:p>
                      <a:r>
                        <a:rPr sz="1650" b="1">
                          <a:solidFill>
                            <a:srgbClr val="007F86"/>
                          </a:solidFill>
                          <a:latin typeface="Aptos"/>
                          <a:ea typeface="Aptos"/>
                          <a:cs typeface="Aptos"/>
                        </a:rPr>
                        <a:t>Thermal</a:t>
                      </a:r>
                    </a:p>
                  </a:txBody>
                  <a:tcPr marL="133350" marR="133350" marT="95250" marB="95250">
                    <a:solidFill>
                      <a:srgbClr val="FFFFFF"/>
                    </a:solidFill>
                  </a:tcPr>
                </a:tc>
                <a:tc>
                  <a:txBody>
                    <a:bodyPr>
                      <a:noAutofit/>
                    </a:bodyPr>
                    <a:lstStyle/>
                    <a:p>
                      <a:r>
                        <a:rPr sz="1650" b="0">
                          <a:solidFill>
                            <a:srgbClr val="17343E"/>
                          </a:solidFill>
                          <a:latin typeface="Aptos"/>
                          <a:ea typeface="Aptos"/>
                          <a:cs typeface="Aptos"/>
                        </a:rPr>
                        <a:t>Optics, bench and mounts</a:t>
                      </a:r>
                    </a:p>
                  </a:txBody>
                  <a:tcPr marL="133350" marR="133350" marT="95250" marB="95250">
                    <a:solidFill>
                      <a:srgbClr val="FFFFFF"/>
                    </a:solidFill>
                  </a:tcPr>
                </a:tc>
                <a:tc>
                  <a:txBody>
                    <a:bodyPr>
                      <a:noAutofit/>
                    </a:bodyPr>
                    <a:lstStyle/>
                    <a:p>
                      <a:r>
                        <a:rPr sz="1650" b="0">
                          <a:solidFill>
                            <a:srgbClr val="17343E"/>
                          </a:solidFill>
                          <a:latin typeface="Aptos"/>
                          <a:ea typeface="Aptos"/>
                          <a:cs typeface="Aptos"/>
                        </a:rPr>
                        <a:t>[Materials / temperature PSD]</a:t>
                      </a:r>
                    </a:p>
                  </a:txBody>
                  <a:tcPr marL="133350" marR="133350" marT="95250" marB="95250">
                    <a:solidFill>
                      <a:srgbClr val="FFFFFF"/>
                    </a:solidFill>
                  </a:tcPr>
                </a:tc>
                <a:tc>
                  <a:txBody>
                    <a:bodyPr>
                      <a:noAutofit/>
                    </a:bodyPr>
                    <a:lstStyle/>
                    <a:p>
                      <a:r>
                        <a:rPr sz="1650" b="0">
                          <a:solidFill>
                            <a:srgbClr val="17343E"/>
                          </a:solidFill>
                          <a:latin typeface="Aptos"/>
                          <a:ea typeface="Aptos"/>
                          <a:cs typeface="Aptos"/>
                        </a:rPr>
                        <a:t>[Action]</a:t>
                      </a:r>
                    </a:p>
                  </a:txBody>
                  <a:tcPr marL="133350" marR="133350" marT="95250" marB="95250">
                    <a:solidFill>
                      <a:srgbClr val="FFFFFF"/>
                    </a:solidFill>
                  </a:tcPr>
                </a:tc>
              </a:tr>
              <a:tr h="682625">
                <a:tc>
                  <a:txBody>
                    <a:bodyPr>
                      <a:noAutofit/>
                    </a:bodyPr>
                    <a:lstStyle/>
                    <a:p>
                      <a:r>
                        <a:rPr sz="1650" b="1">
                          <a:solidFill>
                            <a:srgbClr val="007F86"/>
                          </a:solidFill>
                          <a:latin typeface="Aptos"/>
                          <a:ea typeface="Aptos"/>
                          <a:cs typeface="Aptos"/>
                        </a:rPr>
                        <a:t>Seismic</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Ground, supports and optics</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[PSD / coherence / mechanics]</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[Action]</a:t>
                      </a:r>
                    </a:p>
                  </a:txBody>
                  <a:tcPr marL="133350" marR="133350" marT="95250" marB="95250">
                    <a:solidFill>
                      <a:srgbClr val="EAF8F8"/>
                    </a:solidFill>
                  </a:tcPr>
                </a:tc>
              </a:tr>
              <a:tr h="682625">
                <a:tc>
                  <a:txBody>
                    <a:bodyPr>
                      <a:noAutofit/>
                    </a:bodyPr>
                    <a:lstStyle/>
                    <a:p>
                      <a:r>
                        <a:rPr sz="1650" b="1">
                          <a:solidFill>
                            <a:srgbClr val="007F86"/>
                          </a:solidFill>
                          <a:latin typeface="Aptos"/>
                          <a:ea typeface="Aptos"/>
                          <a:cs typeface="Aptos"/>
                        </a:rPr>
                        <a:t>Pointing / scatter</a:t>
                      </a:r>
                    </a:p>
                  </a:txBody>
                  <a:tcPr marL="133350" marR="133350" marT="95250" marB="95250">
                    <a:solidFill>
                      <a:srgbClr val="FFFFFF"/>
                    </a:solidFill>
                  </a:tcPr>
                </a:tc>
                <a:tc>
                  <a:txBody>
                    <a:bodyPr>
                      <a:noAutofit/>
                    </a:bodyPr>
                    <a:lstStyle/>
                    <a:p>
                      <a:r>
                        <a:rPr sz="1650" b="0">
                          <a:solidFill>
                            <a:srgbClr val="17343E"/>
                          </a:solidFill>
                          <a:latin typeface="Aptos"/>
                          <a:ea typeface="Aptos"/>
                          <a:cs typeface="Aptos"/>
                        </a:rPr>
                        <a:t>Alignment and parasitic paths</a:t>
                      </a:r>
                    </a:p>
                  </a:txBody>
                  <a:tcPr marL="133350" marR="133350" marT="95250" marB="95250">
                    <a:solidFill>
                      <a:srgbClr val="FFFFFF"/>
                    </a:solidFill>
                  </a:tcPr>
                </a:tc>
                <a:tc>
                  <a:txBody>
                    <a:bodyPr>
                      <a:noAutofit/>
                    </a:bodyPr>
                    <a:lstStyle/>
                    <a:p>
                      <a:r>
                        <a:rPr sz="1650" b="0">
                          <a:solidFill>
                            <a:srgbClr val="17343E"/>
                          </a:solidFill>
                          <a:latin typeface="Aptos"/>
                          <a:ea typeface="Aptos"/>
                          <a:cs typeface="Aptos"/>
                        </a:rPr>
                        <a:t>[Jitter / geometry / loss]</a:t>
                      </a:r>
                    </a:p>
                  </a:txBody>
                  <a:tcPr marL="133350" marR="133350" marT="95250" marB="95250">
                    <a:solidFill>
                      <a:srgbClr val="FFFFFF"/>
                    </a:solidFill>
                  </a:tcPr>
                </a:tc>
                <a:tc>
                  <a:txBody>
                    <a:bodyPr>
                      <a:noAutofit/>
                    </a:bodyPr>
                    <a:lstStyle/>
                    <a:p>
                      <a:r>
                        <a:rPr sz="1650" b="0">
                          <a:solidFill>
                            <a:srgbClr val="17343E"/>
                          </a:solidFill>
                          <a:latin typeface="Aptos"/>
                          <a:ea typeface="Aptos"/>
                          <a:cs typeface="Aptos"/>
                        </a:rPr>
                        <a:t>[Action]</a:t>
                      </a:r>
                    </a:p>
                  </a:txBody>
                  <a:tcPr marL="133350" marR="133350" marT="95250" marB="95250">
                    <a:solidFill>
                      <a:srgbClr val="FFFFFF"/>
                    </a:solidFill>
                  </a:tcPr>
                </a:tc>
              </a:tr>
              <a:tr h="682625">
                <a:tc>
                  <a:txBody>
                    <a:bodyPr>
                      <a:noAutofit/>
                    </a:bodyPr>
                    <a:lstStyle/>
                    <a:p>
                      <a:r>
                        <a:rPr sz="1650" b="1">
                          <a:solidFill>
                            <a:srgbClr val="007F86"/>
                          </a:solidFill>
                          <a:latin typeface="Aptos"/>
                          <a:ea typeface="Aptos"/>
                          <a:cs typeface="Aptos"/>
                        </a:rPr>
                        <a:t>Readout / controls</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Electronics and feedback</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[Measurements / model]</a:t>
                      </a:r>
                    </a:p>
                  </a:txBody>
                  <a:tcPr marL="133350" marR="133350" marT="95250" marB="95250">
                    <a:solidFill>
                      <a:srgbClr val="EAF8F8"/>
                    </a:solidFill>
                  </a:tcPr>
                </a:tc>
                <a:tc>
                  <a:txBody>
                    <a:bodyPr>
                      <a:noAutofit/>
                    </a:bodyPr>
                    <a:lstStyle/>
                    <a:p>
                      <a:r>
                        <a:rPr sz="1650" b="0">
                          <a:solidFill>
                            <a:srgbClr val="17343E"/>
                          </a:solidFill>
                          <a:latin typeface="Aptos"/>
                          <a:ea typeface="Aptos"/>
                          <a:cs typeface="Aptos"/>
                        </a:rPr>
                        <a:t>[Action]</a:t>
                      </a:r>
                    </a:p>
                  </a:txBody>
                  <a:tcPr marL="133350" marR="133350" marT="95250" marB="95250">
                    <a:solidFill>
                      <a:srgbClr val="EAF8F8"/>
                    </a:solidFill>
                  </a:tcPr>
                </a:tc>
              </a:tr>
            </a:tbl>
          </a:graphicData>
        </a:graphic>
      </p:graphicFrame>
      <p:sp>
        <p:nvSpPr>
          <p:cNvPr id="5" name="">
            <a:extLst xmlns:a="http://schemas.openxmlformats.org/drawingml/2006/main">
              <a:ext uri="{FF2B5EF4-FFF2-40B4-BE49-F238E27FC236}">
                <a16:creationId xmlns:a16="http://schemas.microsoft.com/office/drawing/2014/main" id="{D4824CC0-6EBD-4EA2-8DF1-1AAFEAC8B140}"/>
              </a:ext>
            </a:extLst>
          </p:cNvPr>
          <p:cNvSpPr>
            <a:spLocks xmlns:a="http://schemas.openxmlformats.org/drawingml/2006/main" noGrp="1"/>
          </p:cNvSpPr>
          <p:nvPr/>
        </p:nvSpPr>
        <p:spPr>
          <a:xfrm xmlns:a="http://schemas.openxmlformats.org/drawingml/2006/main">
            <a:off x="5524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D7078"/>
                </a:solidFill>
                <a:latin typeface="Aptos"/>
                <a:ea typeface="Aptos"/>
                <a:cs typeface="Aptos"/>
              </a:defRPr>
            </a:pPr>
            <a:r>
              <a:rPr sz="1725" b="0">
                <a:solidFill>
                  <a:srgbClr val="5D7078"/>
                </a:solidFill>
                <a:latin typeface="Aptos"/>
                <a:ea typeface="Aptos"/>
                <a:cs typeface="Aptos"/>
              </a:rPr>
              <a:t>Additional terms: [RIN, dust, radiation-related mechanisms or other identified couplings]</a:t>
            </a:r>
          </a:p>
        </p:txBody>
      </p:sp>
    </p:spTree>
    <p:extLst>
      <p:ext uri="{BB962C8B-B14F-4D97-AF65-F5344CB8AC3E}">
        <p14:creationId xmlns:p14="http://schemas.microsoft.com/office/powerpoint/2010/main" val="14202408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8AB21F-69CA-4E2E-B7D7-A81206503A7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Noise budget update</a:t>
            </a:r>
          </a:p>
        </p:txBody>
      </p:sp>
      <p:sp>
        <p:nvSpPr>
          <p:cNvPr id="2" name="">
            <a:extLst xmlns:a="http://schemas.openxmlformats.org/drawingml/2006/main">
              <a:ext uri="{FF2B5EF4-FFF2-40B4-BE49-F238E27FC236}">
                <a16:creationId xmlns:a16="http://schemas.microsoft.com/office/drawing/2014/main" id="{83898337-270D-495E-9508-00A371AA075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Week of [date]     Output convention [differential displacement ASD]</a:t>
            </a:r>
          </a:p>
        </p:txBody>
      </p:sp>
      <p:sp>
        <p:nvSpPr>
          <p:cNvPr id="3" name="">
            <a:extLst xmlns:a="http://schemas.openxmlformats.org/drawingml/2006/main">
              <a:ext uri="{FF2B5EF4-FFF2-40B4-BE49-F238E27FC236}">
                <a16:creationId xmlns:a16="http://schemas.microsoft.com/office/drawing/2014/main" id="{E269B9BD-0045-46D8-BF86-4E8DE785F892}"/>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B6E28D0E-F214-42D8-AD0B-C09900826F19}"/>
              </a:ext>
            </a:extLst>
          </p:cNvPr>
          <p:cNvSpPr>
            <a:spLocks xmlns:a="http://schemas.openxmlformats.org/drawingml/2006/main" noGrp="1"/>
          </p:cNvSpPr>
          <p:nvPr/>
        </p:nvSpPr>
        <p:spPr>
          <a:xfrm xmlns:a="http://schemas.openxmlformats.org/drawingml/2006/main">
            <a:off x="533400" y="1695450"/>
            <a:ext cx="7762875" cy="37338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Component noise curves and total ]</a:t>
            </a:r>
          </a:p>
          <a:p xmlns:a="http://schemas.openxmlformats.org/drawingml/2006/main">
            <a:r>
              <a:t/>
            </a:r>
          </a:p>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Insert plot here</a:t>
            </a:r>
          </a:p>
        </p:txBody>
      </p:sp>
      <p:sp>
        <p:nvSpPr>
          <p:cNvPr id="5" name="">
            <a:extLst xmlns:a="http://schemas.openxmlformats.org/drawingml/2006/main">
              <a:ext uri="{FF2B5EF4-FFF2-40B4-BE49-F238E27FC236}">
                <a16:creationId xmlns:a16="http://schemas.microsoft.com/office/drawing/2014/main" id="{00292AF2-DF74-4DFA-B48E-CAD3CDD385EF}"/>
              </a:ext>
            </a:extLst>
          </p:cNvPr>
          <p:cNvSpPr>
            <a:spLocks xmlns:a="http://schemas.openxmlformats.org/drawingml/2006/main" noGrp="1"/>
          </p:cNvSpPr>
          <p:nvPr/>
        </p:nvSpPr>
        <p:spPr>
          <a:xfrm xmlns:a="http://schemas.openxmlformats.org/drawingml/2006/main">
            <a:off x="8677275" y="17526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Dominant term</a:t>
            </a:r>
          </a:p>
        </p:txBody>
      </p:sp>
      <p:sp>
        <p:nvSpPr>
          <p:cNvPr id="6" name="">
            <a:extLst xmlns:a="http://schemas.openxmlformats.org/drawingml/2006/main">
              <a:ext uri="{FF2B5EF4-FFF2-40B4-BE49-F238E27FC236}">
                <a16:creationId xmlns:a16="http://schemas.microsoft.com/office/drawing/2014/main" id="{EC2B7509-9A9A-41AF-987C-F7A4DCE10BAE}"/>
              </a:ext>
            </a:extLst>
          </p:cNvPr>
          <p:cNvSpPr>
            <a:spLocks xmlns:a="http://schemas.openxmlformats.org/drawingml/2006/main" noGrp="1"/>
          </p:cNvSpPr>
          <p:nvPr/>
        </p:nvSpPr>
        <p:spPr>
          <a:xfrm xmlns:a="http://schemas.openxmlformats.org/drawingml/2006/main">
            <a:off x="8677275" y="21621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[Source and frequency band]</a:t>
            </a:r>
          </a:p>
        </p:txBody>
      </p:sp>
      <p:sp>
        <p:nvSpPr>
          <p:cNvPr id="7" name="">
            <a:extLst xmlns:a="http://schemas.openxmlformats.org/drawingml/2006/main">
              <a:ext uri="{FF2B5EF4-FFF2-40B4-BE49-F238E27FC236}">
                <a16:creationId xmlns:a16="http://schemas.microsoft.com/office/drawing/2014/main" id="{F4CDB2CA-C3E9-4105-A5F5-06DC0A9A6F1E}"/>
              </a:ext>
            </a:extLst>
          </p:cNvPr>
          <p:cNvSpPr>
            <a:spLocks xmlns:a="http://schemas.openxmlformats.org/drawingml/2006/main" noGrp="1"/>
          </p:cNvSpPr>
          <p:nvPr/>
        </p:nvSpPr>
        <p:spPr>
          <a:xfrm xmlns:a="http://schemas.openxmlformats.org/drawingml/2006/main">
            <a:off x="8677275" y="318135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Target gap</a:t>
            </a:r>
          </a:p>
        </p:txBody>
      </p:sp>
      <p:sp>
        <p:nvSpPr>
          <p:cNvPr id="8" name="">
            <a:extLst xmlns:a="http://schemas.openxmlformats.org/drawingml/2006/main">
              <a:ext uri="{FF2B5EF4-FFF2-40B4-BE49-F238E27FC236}">
                <a16:creationId xmlns:a16="http://schemas.microsoft.com/office/drawing/2014/main" id="{D84C82D2-9E92-45CF-8D58-918C9C4CAB15}"/>
              </a:ext>
            </a:extLst>
          </p:cNvPr>
          <p:cNvSpPr>
            <a:spLocks xmlns:a="http://schemas.openxmlformats.org/drawingml/2006/main" noGrp="1"/>
          </p:cNvSpPr>
          <p:nvPr/>
        </p:nvSpPr>
        <p:spPr>
          <a:xfrm xmlns:a="http://schemas.openxmlformats.org/drawingml/2006/main">
            <a:off x="8677275" y="359092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[Amount above or below target]</a:t>
            </a:r>
          </a:p>
        </p:txBody>
      </p:sp>
      <p:sp>
        <p:nvSpPr>
          <p:cNvPr id="9" name="">
            <a:extLst xmlns:a="http://schemas.openxmlformats.org/drawingml/2006/main">
              <a:ext uri="{FF2B5EF4-FFF2-40B4-BE49-F238E27FC236}">
                <a16:creationId xmlns:a16="http://schemas.microsoft.com/office/drawing/2014/main" id="{FCA83083-711D-4C65-84B9-94974ABDB313}"/>
              </a:ext>
            </a:extLst>
          </p:cNvPr>
          <p:cNvSpPr>
            <a:spLocks xmlns:a="http://schemas.openxmlformats.org/drawingml/2006/main" noGrp="1"/>
          </p:cNvSpPr>
          <p:nvPr/>
        </p:nvSpPr>
        <p:spPr>
          <a:xfrm xmlns:a="http://schemas.openxmlformats.org/drawingml/2006/main">
            <a:off x="8677275" y="46101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Model confidence</a:t>
            </a:r>
          </a:p>
        </p:txBody>
      </p:sp>
      <p:sp>
        <p:nvSpPr>
          <p:cNvPr id="10" name="">
            <a:extLst xmlns:a="http://schemas.openxmlformats.org/drawingml/2006/main">
              <a:ext uri="{FF2B5EF4-FFF2-40B4-BE49-F238E27FC236}">
                <a16:creationId xmlns:a16="http://schemas.microsoft.com/office/drawing/2014/main" id="{F4961A88-803E-4723-B689-A86FADE261A2}"/>
              </a:ext>
            </a:extLst>
          </p:cNvPr>
          <p:cNvSpPr>
            <a:spLocks xmlns:a="http://schemas.openxmlformats.org/drawingml/2006/main" noGrp="1"/>
          </p:cNvSpPr>
          <p:nvPr/>
        </p:nvSpPr>
        <p:spPr>
          <a:xfrm xmlns:a="http://schemas.openxmlformats.org/drawingml/2006/main">
            <a:off x="8677275" y="50196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[Validated / assumed / unknown]</a:t>
            </a:r>
          </a:p>
        </p:txBody>
      </p:sp>
      <p:sp>
        <p:nvSpPr>
          <p:cNvPr id="11" name="">
            <a:extLst xmlns:a="http://schemas.openxmlformats.org/drawingml/2006/main">
              <a:ext uri="{FF2B5EF4-FFF2-40B4-BE49-F238E27FC236}">
                <a16:creationId xmlns:a16="http://schemas.microsoft.com/office/drawing/2014/main" id="{1700F614-C4C4-4742-BC3C-B98877C525D8}"/>
              </a:ext>
            </a:extLst>
          </p:cNvPr>
          <p:cNvSpPr>
            <a:spLocks xmlns:a="http://schemas.openxmlformats.org/drawingml/2006/main" noGrp="1"/>
          </p:cNvSpPr>
          <p:nvPr/>
        </p:nvSpPr>
        <p:spPr>
          <a:xfrm xmlns:a="http://schemas.openxmlformats.org/drawingml/2006/main">
            <a:off x="533400" y="5743575"/>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Result: [main finding and its implication]</a:t>
            </a:r>
          </a:p>
        </p:txBody>
      </p:sp>
    </p:spTree>
    <p:extLst>
      <p:ext uri="{BB962C8B-B14F-4D97-AF65-F5344CB8AC3E}">
        <p14:creationId xmlns:p14="http://schemas.microsoft.com/office/powerpoint/2010/main" val="3370034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E23F61-4813-4172-86FA-366EC0CF85BD}"/>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Seismic coupling update</a:t>
            </a:r>
          </a:p>
        </p:txBody>
      </p:sp>
      <p:sp>
        <p:nvSpPr>
          <p:cNvPr id="2" name="">
            <a:extLst xmlns:a="http://schemas.openxmlformats.org/drawingml/2006/main">
              <a:ext uri="{FF2B5EF4-FFF2-40B4-BE49-F238E27FC236}">
                <a16:creationId xmlns:a16="http://schemas.microsoft.com/office/drawing/2014/main" id="{E56441D6-E005-4508-A7B4-D899562E9158}"/>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Week of [date]     Ground motion, station coherence and support response</a:t>
            </a:r>
          </a:p>
        </p:txBody>
      </p:sp>
      <p:sp>
        <p:nvSpPr>
          <p:cNvPr id="3" name="">
            <a:extLst xmlns:a="http://schemas.openxmlformats.org/drawingml/2006/main">
              <a:ext uri="{FF2B5EF4-FFF2-40B4-BE49-F238E27FC236}">
                <a16:creationId xmlns:a16="http://schemas.microsoft.com/office/drawing/2014/main" id="{56538853-F813-4AE6-8CD4-872CC01FFE17}"/>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6854545A-766D-4633-AB04-2EA71EE1AE07}"/>
              </a:ext>
            </a:extLst>
          </p:cNvPr>
          <p:cNvSpPr>
            <a:spLocks xmlns:a="http://schemas.openxmlformats.org/drawingml/2006/main" noGrp="1"/>
          </p:cNvSpPr>
          <p:nvPr/>
        </p:nvSpPr>
        <p:spPr>
          <a:xfrm xmlns:a="http://schemas.openxmlformats.org/drawingml/2006/main">
            <a:off x="533400" y="1762125"/>
            <a:ext cx="5391150" cy="314325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Input spectrum or coupling function ]</a:t>
            </a:r>
          </a:p>
          <a:p xmlns:a="http://schemas.openxmlformats.org/drawingml/2006/main">
            <a:r>
              <a:t/>
            </a:r>
          </a:p>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Insert plot here</a:t>
            </a:r>
          </a:p>
        </p:txBody>
      </p:sp>
      <p:sp>
        <p:nvSpPr>
          <p:cNvPr id="5" name="">
            <a:extLst xmlns:a="http://schemas.openxmlformats.org/drawingml/2006/main">
              <a:ext uri="{FF2B5EF4-FFF2-40B4-BE49-F238E27FC236}">
                <a16:creationId xmlns:a16="http://schemas.microsoft.com/office/drawing/2014/main" id="{D4F9673E-7A9E-4B72-867B-8B7408D3C145}"/>
              </a:ext>
            </a:extLst>
          </p:cNvPr>
          <p:cNvSpPr>
            <a:spLocks xmlns:a="http://schemas.openxmlformats.org/drawingml/2006/main" noGrp="1"/>
          </p:cNvSpPr>
          <p:nvPr/>
        </p:nvSpPr>
        <p:spPr>
          <a:xfrm xmlns:a="http://schemas.openxmlformats.org/drawingml/2006/main">
            <a:off x="6267450" y="1762125"/>
            <a:ext cx="5391150" cy="314325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Residual noise or SNR impact ]</a:t>
            </a:r>
          </a:p>
          <a:p xmlns:a="http://schemas.openxmlformats.org/drawingml/2006/main">
            <a:r>
              <a:t/>
            </a:r>
          </a:p>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Insert plot here</a:t>
            </a:r>
          </a:p>
        </p:txBody>
      </p:sp>
      <p:sp>
        <p:nvSpPr>
          <p:cNvPr id="6" name="">
            <a:extLst xmlns:a="http://schemas.openxmlformats.org/drawingml/2006/main">
              <a:ext uri="{FF2B5EF4-FFF2-40B4-BE49-F238E27FC236}">
                <a16:creationId xmlns:a16="http://schemas.microsoft.com/office/drawing/2014/main" id="{00721801-DCAC-4262-BC4D-C012E371E472}"/>
              </a:ext>
            </a:extLst>
          </p:cNvPr>
          <p:cNvSpPr>
            <a:spLocks xmlns:a="http://schemas.openxmlformats.org/drawingml/2006/main" noGrp="1"/>
          </p:cNvSpPr>
          <p:nvPr/>
        </p:nvSpPr>
        <p:spPr>
          <a:xfrm xmlns:a="http://schemas.openxmlformats.org/drawingml/2006/main">
            <a:off x="552450" y="5210175"/>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Assumptions: [ground PSD, coherence, mount response and geometry]</a:t>
            </a:r>
          </a:p>
        </p:txBody>
      </p:sp>
      <p:sp>
        <p:nvSpPr>
          <p:cNvPr id="7" name="">
            <a:extLst xmlns:a="http://schemas.openxmlformats.org/drawingml/2006/main">
              <a:ext uri="{FF2B5EF4-FFF2-40B4-BE49-F238E27FC236}">
                <a16:creationId xmlns:a16="http://schemas.microsoft.com/office/drawing/2014/main" id="{32D433B5-95D4-466B-BB0A-03657A4A19AE}"/>
              </a:ext>
            </a:extLst>
          </p:cNvPr>
          <p:cNvSpPr>
            <a:spLocks xmlns:a="http://schemas.openxmlformats.org/drawingml/2006/main" noGrp="1"/>
          </p:cNvSpPr>
          <p:nvPr/>
        </p:nvSpPr>
        <p:spPr>
          <a:xfrm xmlns:a="http://schemas.openxmlformats.org/drawingml/2006/main">
            <a:off x="552450" y="581025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Constraint or next measurement: [allowable residual and missing evidence]</a:t>
            </a:r>
          </a:p>
        </p:txBody>
      </p:sp>
    </p:spTree>
    <p:extLst>
      <p:ext uri="{BB962C8B-B14F-4D97-AF65-F5344CB8AC3E}">
        <p14:creationId xmlns:p14="http://schemas.microsoft.com/office/powerpoint/2010/main" val="16961114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443088-FB77-4D37-8F19-C183AADFA1DB}"/>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Sensitivity against the reference</a:t>
            </a:r>
          </a:p>
        </p:txBody>
      </p:sp>
      <p:sp>
        <p:nvSpPr>
          <p:cNvPr id="2" name="">
            <a:extLst xmlns:a="http://schemas.openxmlformats.org/drawingml/2006/main">
              <a:ext uri="{FF2B5EF4-FFF2-40B4-BE49-F238E27FC236}">
                <a16:creationId xmlns:a16="http://schemas.microsoft.com/office/drawing/2014/main" id="{B2BA356C-5021-4C6E-B75F-8BF1AC60DE22}"/>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Week of [date]     Reference [paper / version]     Configuration [ID]</a:t>
            </a:r>
          </a:p>
        </p:txBody>
      </p:sp>
      <p:sp>
        <p:nvSpPr>
          <p:cNvPr id="3" name="">
            <a:extLst xmlns:a="http://schemas.openxmlformats.org/drawingml/2006/main">
              <a:ext uri="{FF2B5EF4-FFF2-40B4-BE49-F238E27FC236}">
                <a16:creationId xmlns:a16="http://schemas.microsoft.com/office/drawing/2014/main" id="{8DDB578B-FBDD-47A8-80B0-A4F5885D9E9E}"/>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B243BFA5-7545-43A3-AA9C-75CF511214F8}"/>
              </a:ext>
            </a:extLst>
          </p:cNvPr>
          <p:cNvSpPr>
            <a:spLocks xmlns:a="http://schemas.openxmlformats.org/drawingml/2006/main" noGrp="1"/>
          </p:cNvSpPr>
          <p:nvPr/>
        </p:nvSpPr>
        <p:spPr>
          <a:xfrm xmlns:a="http://schemas.openxmlformats.org/drawingml/2006/main">
            <a:off x="533400" y="1695450"/>
            <a:ext cx="7762875" cy="37338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Target, reproduced curve and current prediction ]</a:t>
            </a:r>
          </a:p>
          <a:p xmlns:a="http://schemas.openxmlformats.org/drawingml/2006/main">
            <a:r>
              <a:t/>
            </a:r>
          </a:p>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Insert plot here</a:t>
            </a:r>
          </a:p>
        </p:txBody>
      </p:sp>
      <p:sp>
        <p:nvSpPr>
          <p:cNvPr id="5" name="">
            <a:extLst xmlns:a="http://schemas.openxmlformats.org/drawingml/2006/main">
              <a:ext uri="{FF2B5EF4-FFF2-40B4-BE49-F238E27FC236}">
                <a16:creationId xmlns:a16="http://schemas.microsoft.com/office/drawing/2014/main" id="{75A5E61E-8197-468F-8B63-0EEB3DD372B2}"/>
              </a:ext>
            </a:extLst>
          </p:cNvPr>
          <p:cNvSpPr>
            <a:spLocks xmlns:a="http://schemas.openxmlformats.org/drawingml/2006/main" noGrp="1"/>
          </p:cNvSpPr>
          <p:nvPr/>
        </p:nvSpPr>
        <p:spPr>
          <a:xfrm xmlns:a="http://schemas.openxmlformats.org/drawingml/2006/main">
            <a:off x="8677275" y="17526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Quantity</a:t>
            </a:r>
          </a:p>
        </p:txBody>
      </p:sp>
      <p:sp>
        <p:nvSpPr>
          <p:cNvPr id="6" name="">
            <a:extLst xmlns:a="http://schemas.openxmlformats.org/drawingml/2006/main">
              <a:ext uri="{FF2B5EF4-FFF2-40B4-BE49-F238E27FC236}">
                <a16:creationId xmlns:a16="http://schemas.microsoft.com/office/drawing/2014/main" id="{2112BE0C-63E2-450C-AEA1-83F6724339F2}"/>
              </a:ext>
            </a:extLst>
          </p:cNvPr>
          <p:cNvSpPr>
            <a:spLocks xmlns:a="http://schemas.openxmlformats.org/drawingml/2006/main" noGrp="1"/>
          </p:cNvSpPr>
          <p:nvPr/>
        </p:nvSpPr>
        <p:spPr>
          <a:xfrm xmlns:a="http://schemas.openxmlformats.org/drawingml/2006/main">
            <a:off x="8677275" y="21621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[Displacement ASD / strain ASD]</a:t>
            </a:r>
          </a:p>
        </p:txBody>
      </p:sp>
      <p:sp>
        <p:nvSpPr>
          <p:cNvPr id="7" name="">
            <a:extLst xmlns:a="http://schemas.openxmlformats.org/drawingml/2006/main">
              <a:ext uri="{FF2B5EF4-FFF2-40B4-BE49-F238E27FC236}">
                <a16:creationId xmlns:a16="http://schemas.microsoft.com/office/drawing/2014/main" id="{E276283A-1B84-46D3-B7FD-052D04F00278}"/>
              </a:ext>
            </a:extLst>
          </p:cNvPr>
          <p:cNvSpPr>
            <a:spLocks xmlns:a="http://schemas.openxmlformats.org/drawingml/2006/main" noGrp="1"/>
          </p:cNvSpPr>
          <p:nvPr/>
        </p:nvSpPr>
        <p:spPr>
          <a:xfrm xmlns:a="http://schemas.openxmlformats.org/drawingml/2006/main">
            <a:off x="8677275" y="318135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Lunar response</a:t>
            </a:r>
          </a:p>
        </p:txBody>
      </p:sp>
      <p:sp>
        <p:nvSpPr>
          <p:cNvPr id="8" name="">
            <a:extLst xmlns:a="http://schemas.openxmlformats.org/drawingml/2006/main">
              <a:ext uri="{FF2B5EF4-FFF2-40B4-BE49-F238E27FC236}">
                <a16:creationId xmlns:a16="http://schemas.microsoft.com/office/drawing/2014/main" id="{0BB474DD-223C-4663-81F6-50A097B1CECC}"/>
              </a:ext>
            </a:extLst>
          </p:cNvPr>
          <p:cNvSpPr>
            <a:spLocks xmlns:a="http://schemas.openxmlformats.org/drawingml/2006/main" noGrp="1"/>
          </p:cNvSpPr>
          <p:nvPr/>
        </p:nvSpPr>
        <p:spPr>
          <a:xfrm xmlns:a="http://schemas.openxmlformats.org/drawingml/2006/main">
            <a:off x="8677275" y="359092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[Model, modes and assumptions]</a:t>
            </a:r>
          </a:p>
        </p:txBody>
      </p:sp>
      <p:sp>
        <p:nvSpPr>
          <p:cNvPr id="9" name="">
            <a:extLst xmlns:a="http://schemas.openxmlformats.org/drawingml/2006/main">
              <a:ext uri="{FF2B5EF4-FFF2-40B4-BE49-F238E27FC236}">
                <a16:creationId xmlns:a16="http://schemas.microsoft.com/office/drawing/2014/main" id="{926EA23A-9F43-4D61-ACB4-A7ED98AE2BF6}"/>
              </a:ext>
            </a:extLst>
          </p:cNvPr>
          <p:cNvSpPr>
            <a:spLocks xmlns:a="http://schemas.openxmlformats.org/drawingml/2006/main" noGrp="1"/>
          </p:cNvSpPr>
          <p:nvPr/>
        </p:nvSpPr>
        <p:spPr>
          <a:xfrm xmlns:a="http://schemas.openxmlformats.org/drawingml/2006/main">
            <a:off x="8677275" y="46101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Main difference</a:t>
            </a:r>
          </a:p>
        </p:txBody>
      </p:sp>
      <p:sp>
        <p:nvSpPr>
          <p:cNvPr id="10" name="">
            <a:extLst xmlns:a="http://schemas.openxmlformats.org/drawingml/2006/main">
              <a:ext uri="{FF2B5EF4-FFF2-40B4-BE49-F238E27FC236}">
                <a16:creationId xmlns:a16="http://schemas.microsoft.com/office/drawing/2014/main" id="{4BFE6B39-D907-409A-A784-FE929F2FF2B9}"/>
              </a:ext>
            </a:extLst>
          </p:cNvPr>
          <p:cNvSpPr>
            <a:spLocks xmlns:a="http://schemas.openxmlformats.org/drawingml/2006/main" noGrp="1"/>
          </p:cNvSpPr>
          <p:nvPr/>
        </p:nvSpPr>
        <p:spPr>
          <a:xfrm xmlns:a="http://schemas.openxmlformats.org/drawingml/2006/main">
            <a:off x="8677275" y="50196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[Coupling or design change]</a:t>
            </a:r>
          </a:p>
        </p:txBody>
      </p:sp>
      <p:sp>
        <p:nvSpPr>
          <p:cNvPr id="11" name="">
            <a:extLst xmlns:a="http://schemas.openxmlformats.org/drawingml/2006/main">
              <a:ext uri="{FF2B5EF4-FFF2-40B4-BE49-F238E27FC236}">
                <a16:creationId xmlns:a16="http://schemas.microsoft.com/office/drawing/2014/main" id="{DB60FE1F-4D05-4578-9133-A9C92CD8F7DE}"/>
              </a:ext>
            </a:extLst>
          </p:cNvPr>
          <p:cNvSpPr>
            <a:spLocks xmlns:a="http://schemas.openxmlformats.org/drawingml/2006/main" noGrp="1"/>
          </p:cNvSpPr>
          <p:nvPr/>
        </p:nvSpPr>
        <p:spPr>
          <a:xfrm xmlns:a="http://schemas.openxmlformats.org/drawingml/2006/main">
            <a:off x="533400" y="5743575"/>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Result: [main finding and its implication]</a:t>
            </a:r>
          </a:p>
        </p:txBody>
      </p:sp>
    </p:spTree>
    <p:extLst>
      <p:ext uri="{BB962C8B-B14F-4D97-AF65-F5344CB8AC3E}">
        <p14:creationId xmlns:p14="http://schemas.microsoft.com/office/powerpoint/2010/main" val="2628702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E9A18D-0EED-4461-874C-6C814FBCDA3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Science SNR review</a:t>
            </a:r>
          </a:p>
        </p:txBody>
      </p:sp>
      <p:sp>
        <p:nvSpPr>
          <p:cNvPr id="2" name="">
            <a:extLst xmlns:a="http://schemas.openxmlformats.org/drawingml/2006/main">
              <a:ext uri="{FF2B5EF4-FFF2-40B4-BE49-F238E27FC236}">
                <a16:creationId xmlns:a16="http://schemas.microsoft.com/office/drawing/2014/main" id="{63C83D8F-110E-4C69-B17A-223FEF8E86C5}"/>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Week of [date]     Shared assumptions [observation time, geometry and response model]</a:t>
            </a:r>
          </a:p>
        </p:txBody>
      </p:sp>
      <p:sp>
        <p:nvSpPr>
          <p:cNvPr id="3" name="">
            <a:extLst xmlns:a="http://schemas.openxmlformats.org/drawingml/2006/main">
              <a:ext uri="{FF2B5EF4-FFF2-40B4-BE49-F238E27FC236}">
                <a16:creationId xmlns:a16="http://schemas.microsoft.com/office/drawing/2014/main" id="{9DFCF24C-3770-4016-B9F2-FC1683F59304}"/>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14</a:t>
            </a:r>
          </a:p>
        </p:txBody>
      </p:sp>
      <p:graphicFrame>
        <p:nvGraphicFramePr>
          <p:cNvPr id="11" name=""/>
          <p:cNvGraphicFramePr/>
          <p:nvPr/>
        </p:nvGraphicFramePr>
        <p:xfrm>
          <a:off xmlns:a="http://schemas.openxmlformats.org/drawingml/2006/main" x="533400" y="1752600"/>
          <a:ext xmlns:a="http://schemas.openxmlformats.org/drawingml/2006/main" cx="11125200" cy="3086100"/>
        </p:xfrm>
        <a:graphic xmlns:a="http://schemas.openxmlformats.org/drawingml/2006/main">
          <a:graphicData uri="http://schemas.openxmlformats.org/drawingml/2006/table">
            <a:tbl>
              <a:tblPr/>
              <a:tblGrid>
                <a:gridCol w="2238375"/>
                <a:gridCol w="2409825"/>
                <a:gridCol w="2476500"/>
                <a:gridCol w="2000250"/>
                <a:gridCol w="2000250"/>
              </a:tblGrid>
              <a:tr h="771525">
                <a:tc>
                  <a:txBody>
                    <a:bodyPr>
                      <a:noAutofit/>
                    </a:bodyPr>
                    <a:lstStyle/>
                    <a:p>
                      <a:r>
                        <a:rPr sz="1725" b="1">
                          <a:solidFill>
                            <a:srgbClr val="FFFFFF"/>
                          </a:solidFill>
                          <a:latin typeface="Aptos"/>
                          <a:ea typeface="Aptos"/>
                          <a:cs typeface="Aptos"/>
                        </a:rPr>
                        <a:t>Science case</a:t>
                      </a:r>
                    </a:p>
                  </a:txBody>
                  <a:tcPr marL="133350" marR="133350" marT="95250" marB="95250">
                    <a:solidFill>
                      <a:srgbClr val="007F86"/>
                    </a:solidFill>
                  </a:tcPr>
                </a:tc>
                <a:tc>
                  <a:txBody>
                    <a:bodyPr>
                      <a:noAutofit/>
                    </a:bodyPr>
                    <a:lstStyle/>
                    <a:p>
                      <a:r>
                        <a:rPr sz="1725" b="1">
                          <a:solidFill>
                            <a:srgbClr val="FFFFFF"/>
                          </a:solidFill>
                          <a:latin typeface="Aptos"/>
                          <a:ea typeface="Aptos"/>
                          <a:cs typeface="Aptos"/>
                        </a:rPr>
                        <a:t>Source / distance</a:t>
                      </a:r>
                    </a:p>
                  </a:txBody>
                  <a:tcPr marL="133350" marR="133350" marT="95250" marB="95250">
                    <a:solidFill>
                      <a:srgbClr val="007F86"/>
                    </a:solidFill>
                  </a:tcPr>
                </a:tc>
                <a:tc>
                  <a:txBody>
                    <a:bodyPr>
                      <a:noAutofit/>
                    </a:bodyPr>
                    <a:lstStyle/>
                    <a:p>
                      <a:r>
                        <a:rPr sz="1725" b="1">
                          <a:solidFill>
                            <a:srgbClr val="FFFFFF"/>
                          </a:solidFill>
                          <a:latin typeface="Aptos"/>
                          <a:ea typeface="Aptos"/>
                          <a:cs typeface="Aptos"/>
                        </a:rPr>
                        <a:t>Band / duration</a:t>
                      </a:r>
                    </a:p>
                  </a:txBody>
                  <a:tcPr marL="133350" marR="133350" marT="95250" marB="95250">
                    <a:solidFill>
                      <a:srgbClr val="007F86"/>
                    </a:solidFill>
                  </a:tcPr>
                </a:tc>
                <a:tc>
                  <a:txBody>
                    <a:bodyPr>
                      <a:noAutofit/>
                    </a:bodyPr>
                    <a:lstStyle/>
                    <a:p>
                      <a:r>
                        <a:rPr sz="1725" b="1">
                          <a:solidFill>
                            <a:srgbClr val="FFFFFF"/>
                          </a:solidFill>
                          <a:latin typeface="Aptos"/>
                          <a:ea typeface="Aptos"/>
                          <a:cs typeface="Aptos"/>
                        </a:rPr>
                        <a:t>Required SNR</a:t>
                      </a:r>
                    </a:p>
                  </a:txBody>
                  <a:tcPr marL="133350" marR="133350" marT="95250" marB="95250">
                    <a:solidFill>
                      <a:srgbClr val="007F86"/>
                    </a:solidFill>
                  </a:tcPr>
                </a:tc>
                <a:tc>
                  <a:txBody>
                    <a:bodyPr>
                      <a:noAutofit/>
                    </a:bodyPr>
                    <a:lstStyle/>
                    <a:p>
                      <a:r>
                        <a:rPr sz="1725" b="1">
                          <a:solidFill>
                            <a:srgbClr val="FFFFFF"/>
                          </a:solidFill>
                          <a:latin typeface="Aptos"/>
                          <a:ea typeface="Aptos"/>
                          <a:cs typeface="Aptos"/>
                        </a:rPr>
                        <a:t>Predicted SNR</a:t>
                      </a:r>
                    </a:p>
                  </a:txBody>
                  <a:tcPr marL="133350" marR="133350" marT="95250" marB="95250">
                    <a:solidFill>
                      <a:srgbClr val="007F86"/>
                    </a:solidFill>
                  </a:tcPr>
                </a:tc>
              </a:tr>
              <a:tr h="771525">
                <a:tc>
                  <a:txBody>
                    <a:bodyPr>
                      <a:noAutofit/>
                    </a:bodyPr>
                    <a:lstStyle/>
                    <a:p>
                      <a:r>
                        <a:rPr sz="1725" b="1">
                          <a:solidFill>
                            <a:srgbClr val="007F86"/>
                          </a:solidFill>
                          <a:latin typeface="Aptos"/>
                          <a:ea typeface="Aptos"/>
                          <a:cs typeface="Aptos"/>
                        </a:rPr>
                        <a:t>[Case 1]</a:t>
                      </a:r>
                    </a:p>
                  </a:txBody>
                  <a:tcPr marL="133350" marR="133350" marT="95250" marB="95250">
                    <a:solidFill>
                      <a:srgbClr val="EAF8F8"/>
                    </a:solidFill>
                  </a:tcPr>
                </a:tc>
                <a:tc>
                  <a:txBody>
                    <a:bodyPr>
                      <a:noAutofit/>
                    </a:bodyPr>
                    <a:lstStyle/>
                    <a:p>
                      <a:r>
                        <a:rPr sz="1725" b="0">
                          <a:solidFill>
                            <a:srgbClr val="17343E"/>
                          </a:solidFill>
                          <a:latin typeface="Aptos"/>
                          <a:ea typeface="Aptos"/>
                          <a:cs typeface="Aptos"/>
                        </a:rPr>
                        <a:t>[Parameters]</a:t>
                      </a:r>
                    </a:p>
                  </a:txBody>
                  <a:tcPr marL="133350" marR="133350" marT="95250" marB="95250">
                    <a:solidFill>
                      <a:srgbClr val="EAF8F8"/>
                    </a:solidFill>
                  </a:tcPr>
                </a:tc>
                <a:tc>
                  <a:txBody>
                    <a:bodyPr>
                      <a:noAutofit/>
                    </a:bodyPr>
                    <a:lstStyle/>
                    <a:p>
                      <a:r>
                        <a:rPr sz="1725" b="0">
                          <a:solidFill>
                            <a:srgbClr val="17343E"/>
                          </a:solidFill>
                          <a:latin typeface="Aptos"/>
                          <a:ea typeface="Aptos"/>
                          <a:cs typeface="Aptos"/>
                        </a:rPr>
                        <a:t>[Values]</a:t>
                      </a:r>
                    </a:p>
                  </a:txBody>
                  <a:tcPr marL="133350" marR="133350" marT="95250" marB="95250">
                    <a:solidFill>
                      <a:srgbClr val="EAF8F8"/>
                    </a:solidFill>
                  </a:tcPr>
                </a:tc>
                <a:tc>
                  <a:txBody>
                    <a:bodyPr>
                      <a:noAutofit/>
                    </a:bodyPr>
                    <a:lstStyle/>
                    <a:p>
                      <a:r>
                        <a:rPr sz="1725" b="0">
                          <a:solidFill>
                            <a:srgbClr val="17343E"/>
                          </a:solidFill>
                          <a:latin typeface="Aptos"/>
                          <a:ea typeface="Aptos"/>
                          <a:cs typeface="Aptos"/>
                        </a:rPr>
                        <a:t>[Threshold]</a:t>
                      </a:r>
                    </a:p>
                  </a:txBody>
                  <a:tcPr marL="133350" marR="133350" marT="95250" marB="95250">
                    <a:solidFill>
                      <a:srgbClr val="EAF8F8"/>
                    </a:solidFill>
                  </a:tcPr>
                </a:tc>
                <a:tc>
                  <a:txBody>
                    <a:bodyPr>
                      <a:noAutofit/>
                    </a:bodyPr>
                    <a:lstStyle/>
                    <a:p>
                      <a:r>
                        <a:rPr sz="1725" b="0">
                          <a:solidFill>
                            <a:srgbClr val="17343E"/>
                          </a:solidFill>
                          <a:latin typeface="Aptos"/>
                          <a:ea typeface="Aptos"/>
                          <a:cs typeface="Aptos"/>
                        </a:rPr>
                        <a:t>[Result]</a:t>
                      </a:r>
                    </a:p>
                  </a:txBody>
                  <a:tcPr marL="133350" marR="133350" marT="95250" marB="95250">
                    <a:solidFill>
                      <a:srgbClr val="EAF8F8"/>
                    </a:solidFill>
                  </a:tcPr>
                </a:tc>
              </a:tr>
              <a:tr h="771525">
                <a:tc>
                  <a:txBody>
                    <a:bodyPr>
                      <a:noAutofit/>
                    </a:bodyPr>
                    <a:lstStyle/>
                    <a:p>
                      <a:r>
                        <a:rPr sz="1725" b="1">
                          <a:solidFill>
                            <a:srgbClr val="007F86"/>
                          </a:solidFill>
                          <a:latin typeface="Aptos"/>
                          <a:ea typeface="Aptos"/>
                          <a:cs typeface="Aptos"/>
                        </a:rPr>
                        <a:t>[Case 2]</a:t>
                      </a:r>
                    </a:p>
                  </a:txBody>
                  <a:tcPr marL="133350" marR="133350" marT="95250" marB="95250">
                    <a:solidFill>
                      <a:srgbClr val="FFFFFF"/>
                    </a:solidFill>
                  </a:tcPr>
                </a:tc>
                <a:tc>
                  <a:txBody>
                    <a:bodyPr>
                      <a:noAutofit/>
                    </a:bodyPr>
                    <a:lstStyle/>
                    <a:p>
                      <a:r>
                        <a:rPr sz="1725" b="0">
                          <a:solidFill>
                            <a:srgbClr val="17343E"/>
                          </a:solidFill>
                          <a:latin typeface="Aptos"/>
                          <a:ea typeface="Aptos"/>
                          <a:cs typeface="Aptos"/>
                        </a:rPr>
                        <a:t>[Parameters]</a:t>
                      </a:r>
                    </a:p>
                  </a:txBody>
                  <a:tcPr marL="133350" marR="133350" marT="95250" marB="95250">
                    <a:solidFill>
                      <a:srgbClr val="FFFFFF"/>
                    </a:solidFill>
                  </a:tcPr>
                </a:tc>
                <a:tc>
                  <a:txBody>
                    <a:bodyPr>
                      <a:noAutofit/>
                    </a:bodyPr>
                    <a:lstStyle/>
                    <a:p>
                      <a:r>
                        <a:rPr sz="1725" b="0">
                          <a:solidFill>
                            <a:srgbClr val="17343E"/>
                          </a:solidFill>
                          <a:latin typeface="Aptos"/>
                          <a:ea typeface="Aptos"/>
                          <a:cs typeface="Aptos"/>
                        </a:rPr>
                        <a:t>[Values]</a:t>
                      </a:r>
                    </a:p>
                  </a:txBody>
                  <a:tcPr marL="133350" marR="133350" marT="95250" marB="95250">
                    <a:solidFill>
                      <a:srgbClr val="FFFFFF"/>
                    </a:solidFill>
                  </a:tcPr>
                </a:tc>
                <a:tc>
                  <a:txBody>
                    <a:bodyPr>
                      <a:noAutofit/>
                    </a:bodyPr>
                    <a:lstStyle/>
                    <a:p>
                      <a:r>
                        <a:rPr sz="1725" b="0">
                          <a:solidFill>
                            <a:srgbClr val="17343E"/>
                          </a:solidFill>
                          <a:latin typeface="Aptos"/>
                          <a:ea typeface="Aptos"/>
                          <a:cs typeface="Aptos"/>
                        </a:rPr>
                        <a:t>[Threshold]</a:t>
                      </a:r>
                    </a:p>
                  </a:txBody>
                  <a:tcPr marL="133350" marR="133350" marT="95250" marB="95250">
                    <a:solidFill>
                      <a:srgbClr val="FFFFFF"/>
                    </a:solidFill>
                  </a:tcPr>
                </a:tc>
                <a:tc>
                  <a:txBody>
                    <a:bodyPr>
                      <a:noAutofit/>
                    </a:bodyPr>
                    <a:lstStyle/>
                    <a:p>
                      <a:r>
                        <a:rPr sz="1725" b="0">
                          <a:solidFill>
                            <a:srgbClr val="17343E"/>
                          </a:solidFill>
                          <a:latin typeface="Aptos"/>
                          <a:ea typeface="Aptos"/>
                          <a:cs typeface="Aptos"/>
                        </a:rPr>
                        <a:t>[Result]</a:t>
                      </a:r>
                    </a:p>
                  </a:txBody>
                  <a:tcPr marL="133350" marR="133350" marT="95250" marB="95250">
                    <a:solidFill>
                      <a:srgbClr val="FFFFFF"/>
                    </a:solidFill>
                  </a:tcPr>
                </a:tc>
              </a:tr>
              <a:tr h="771525">
                <a:tc>
                  <a:txBody>
                    <a:bodyPr>
                      <a:noAutofit/>
                    </a:bodyPr>
                    <a:lstStyle/>
                    <a:p>
                      <a:r>
                        <a:rPr sz="1725" b="1">
                          <a:solidFill>
                            <a:srgbClr val="007F86"/>
                          </a:solidFill>
                          <a:latin typeface="Aptos"/>
                          <a:ea typeface="Aptos"/>
                          <a:cs typeface="Aptos"/>
                        </a:rPr>
                        <a:t>[Case 3]</a:t>
                      </a:r>
                    </a:p>
                  </a:txBody>
                  <a:tcPr marL="133350" marR="133350" marT="95250" marB="95250">
                    <a:solidFill>
                      <a:srgbClr val="EAF8F8"/>
                    </a:solidFill>
                  </a:tcPr>
                </a:tc>
                <a:tc>
                  <a:txBody>
                    <a:bodyPr>
                      <a:noAutofit/>
                    </a:bodyPr>
                    <a:lstStyle/>
                    <a:p>
                      <a:r>
                        <a:rPr sz="1725" b="0">
                          <a:solidFill>
                            <a:srgbClr val="17343E"/>
                          </a:solidFill>
                          <a:latin typeface="Aptos"/>
                          <a:ea typeface="Aptos"/>
                          <a:cs typeface="Aptos"/>
                        </a:rPr>
                        <a:t>[Parameters]</a:t>
                      </a:r>
                    </a:p>
                  </a:txBody>
                  <a:tcPr marL="133350" marR="133350" marT="95250" marB="95250">
                    <a:solidFill>
                      <a:srgbClr val="EAF8F8"/>
                    </a:solidFill>
                  </a:tcPr>
                </a:tc>
                <a:tc>
                  <a:txBody>
                    <a:bodyPr>
                      <a:noAutofit/>
                    </a:bodyPr>
                    <a:lstStyle/>
                    <a:p>
                      <a:r>
                        <a:rPr sz="1725" b="0">
                          <a:solidFill>
                            <a:srgbClr val="17343E"/>
                          </a:solidFill>
                          <a:latin typeface="Aptos"/>
                          <a:ea typeface="Aptos"/>
                          <a:cs typeface="Aptos"/>
                        </a:rPr>
                        <a:t>[Values]</a:t>
                      </a:r>
                    </a:p>
                  </a:txBody>
                  <a:tcPr marL="133350" marR="133350" marT="95250" marB="95250">
                    <a:solidFill>
                      <a:srgbClr val="EAF8F8"/>
                    </a:solidFill>
                  </a:tcPr>
                </a:tc>
                <a:tc>
                  <a:txBody>
                    <a:bodyPr>
                      <a:noAutofit/>
                    </a:bodyPr>
                    <a:lstStyle/>
                    <a:p>
                      <a:r>
                        <a:rPr sz="1725" b="0">
                          <a:solidFill>
                            <a:srgbClr val="17343E"/>
                          </a:solidFill>
                          <a:latin typeface="Aptos"/>
                          <a:ea typeface="Aptos"/>
                          <a:cs typeface="Aptos"/>
                        </a:rPr>
                        <a:t>[Threshold]</a:t>
                      </a:r>
                    </a:p>
                  </a:txBody>
                  <a:tcPr marL="133350" marR="133350" marT="95250" marB="95250">
                    <a:solidFill>
                      <a:srgbClr val="EAF8F8"/>
                    </a:solidFill>
                  </a:tcPr>
                </a:tc>
                <a:tc>
                  <a:txBody>
                    <a:bodyPr>
                      <a:noAutofit/>
                    </a:bodyPr>
                    <a:lstStyle/>
                    <a:p>
                      <a:r>
                        <a:rPr sz="1725" b="0">
                          <a:solidFill>
                            <a:srgbClr val="17343E"/>
                          </a:solidFill>
                          <a:latin typeface="Aptos"/>
                          <a:ea typeface="Aptos"/>
                          <a:cs typeface="Aptos"/>
                        </a:rPr>
                        <a:t>[Result]</a:t>
                      </a:r>
                    </a:p>
                  </a:txBody>
                  <a:tcPr marL="133350" marR="133350" marT="95250" marB="95250">
                    <a:solidFill>
                      <a:srgbClr val="EAF8F8"/>
                    </a:solidFill>
                  </a:tcPr>
                </a:tc>
              </a:tr>
            </a:tbl>
          </a:graphicData>
        </a:graphic>
      </p:graphicFrame>
      <p:sp>
        <p:nvSpPr>
          <p:cNvPr id="5" name="">
            <a:extLst xmlns:a="http://schemas.openxmlformats.org/drawingml/2006/main">
              <a:ext uri="{FF2B5EF4-FFF2-40B4-BE49-F238E27FC236}">
                <a16:creationId xmlns:a16="http://schemas.microsoft.com/office/drawing/2014/main" id="{48039845-2CF7-47D7-AE44-1040635D8FE9}"/>
              </a:ext>
            </a:extLst>
          </p:cNvPr>
          <p:cNvSpPr>
            <a:spLocks xmlns:a="http://schemas.openxmlformats.org/drawingml/2006/main" noGrp="1"/>
          </p:cNvSpPr>
          <p:nvPr/>
        </p:nvSpPr>
        <p:spPr>
          <a:xfrm xmlns:a="http://schemas.openxmlformats.org/drawingml/2006/main">
            <a:off x="552450" y="52959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Limiting noise: [term]     Required improvement: [level or coupling reduction]</a:t>
            </a:r>
          </a:p>
        </p:txBody>
      </p:sp>
    </p:spTree>
    <p:extLst>
      <p:ext uri="{BB962C8B-B14F-4D97-AF65-F5344CB8AC3E}">
        <p14:creationId xmlns:p14="http://schemas.microsoft.com/office/powerpoint/2010/main" val="5569189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FDD266-40A8-4612-9DF7-A246E1625C8A}"/>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Decisions and next week</a:t>
            </a:r>
          </a:p>
        </p:txBody>
      </p:sp>
      <p:sp>
        <p:nvSpPr>
          <p:cNvPr id="2" name="">
            <a:extLst xmlns:a="http://schemas.openxmlformats.org/drawingml/2006/main">
              <a:ext uri="{FF2B5EF4-FFF2-40B4-BE49-F238E27FC236}">
                <a16:creationId xmlns:a16="http://schemas.microsoft.com/office/drawing/2014/main" id="{2C926142-6887-42B5-AF56-0720542E8231}"/>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Week of [date]</a:t>
            </a:r>
          </a:p>
        </p:txBody>
      </p:sp>
      <p:sp>
        <p:nvSpPr>
          <p:cNvPr id="3" name="">
            <a:extLst xmlns:a="http://schemas.openxmlformats.org/drawingml/2006/main">
              <a:ext uri="{FF2B5EF4-FFF2-40B4-BE49-F238E27FC236}">
                <a16:creationId xmlns:a16="http://schemas.microsoft.com/office/drawing/2014/main" id="{62736FBE-1B4B-4206-8108-D8F97FA41211}"/>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15</a:t>
            </a:r>
          </a:p>
        </p:txBody>
      </p:sp>
      <p:graphicFrame>
        <p:nvGraphicFramePr>
          <p:cNvPr id="11" name=""/>
          <p:cNvGraphicFramePr/>
          <p:nvPr/>
        </p:nvGraphicFramePr>
        <p:xfrm>
          <a:off xmlns:a="http://schemas.openxmlformats.org/drawingml/2006/main" x="533400" y="1762125"/>
          <a:ext xmlns:a="http://schemas.openxmlformats.org/drawingml/2006/main" cx="11125200" cy="3171825"/>
        </p:xfrm>
        <a:graphic xmlns:a="http://schemas.openxmlformats.org/drawingml/2006/main">
          <a:graphicData uri="http://schemas.openxmlformats.org/drawingml/2006/table">
            <a:tbl>
              <a:tblPr/>
              <a:tblGrid>
                <a:gridCol w="4400550"/>
                <a:gridCol w="1809750"/>
                <a:gridCol w="1809750"/>
                <a:gridCol w="3105150"/>
              </a:tblGrid>
              <a:tr h="792956">
                <a:tc>
                  <a:txBody>
                    <a:bodyPr>
                      <a:noAutofit/>
                    </a:bodyPr>
                    <a:lstStyle/>
                    <a:p>
                      <a:r>
                        <a:rPr sz="1800" b="1">
                          <a:solidFill>
                            <a:srgbClr val="FFFFFF"/>
                          </a:solidFill>
                          <a:latin typeface="Aptos"/>
                          <a:ea typeface="Aptos"/>
                          <a:cs typeface="Aptos"/>
                        </a:rPr>
                        <a:t>Action or decision</a:t>
                      </a:r>
                    </a:p>
                  </a:txBody>
                  <a:tcPr marL="133350" marR="133350" marT="95250" marB="95250">
                    <a:solidFill>
                      <a:srgbClr val="007F86"/>
                    </a:solidFill>
                  </a:tcPr>
                </a:tc>
                <a:tc>
                  <a:txBody>
                    <a:bodyPr>
                      <a:noAutofit/>
                    </a:bodyPr>
                    <a:lstStyle/>
                    <a:p>
                      <a:r>
                        <a:rPr sz="1800" b="1">
                          <a:solidFill>
                            <a:srgbClr val="FFFFFF"/>
                          </a:solidFill>
                          <a:latin typeface="Aptos"/>
                          <a:ea typeface="Aptos"/>
                          <a:cs typeface="Aptos"/>
                        </a:rPr>
                        <a:t>Owner</a:t>
                      </a:r>
                    </a:p>
                  </a:txBody>
                  <a:tcPr marL="133350" marR="133350" marT="95250" marB="95250">
                    <a:solidFill>
                      <a:srgbClr val="007F86"/>
                    </a:solidFill>
                  </a:tcPr>
                </a:tc>
                <a:tc>
                  <a:txBody>
                    <a:bodyPr>
                      <a:noAutofit/>
                    </a:bodyPr>
                    <a:lstStyle/>
                    <a:p>
                      <a:r>
                        <a:rPr sz="1800" b="1">
                          <a:solidFill>
                            <a:srgbClr val="FFFFFF"/>
                          </a:solidFill>
                          <a:latin typeface="Aptos"/>
                          <a:ea typeface="Aptos"/>
                          <a:cs typeface="Aptos"/>
                        </a:rPr>
                        <a:t>Needed by</a:t>
                      </a:r>
                    </a:p>
                  </a:txBody>
                  <a:tcPr marL="133350" marR="133350" marT="95250" marB="95250">
                    <a:solidFill>
                      <a:srgbClr val="007F86"/>
                    </a:solidFill>
                  </a:tcPr>
                </a:tc>
                <a:tc>
                  <a:txBody>
                    <a:bodyPr>
                      <a:noAutofit/>
                    </a:bodyPr>
                    <a:lstStyle/>
                    <a:p>
                      <a:r>
                        <a:rPr sz="1800" b="1">
                          <a:solidFill>
                            <a:srgbClr val="FFFFFF"/>
                          </a:solidFill>
                          <a:latin typeface="Aptos"/>
                          <a:ea typeface="Aptos"/>
                          <a:cs typeface="Aptos"/>
                        </a:rPr>
                        <a:t>Evidence of completion</a:t>
                      </a:r>
                    </a:p>
                  </a:txBody>
                  <a:tcPr marL="133350" marR="133350" marT="95250" marB="95250">
                    <a:solidFill>
                      <a:srgbClr val="007F86"/>
                    </a:solidFill>
                  </a:tcPr>
                </a:tc>
              </a:tr>
              <a:tr h="792956">
                <a:tc>
                  <a:txBody>
                    <a:bodyPr>
                      <a:noAutofit/>
                    </a:bodyPr>
                    <a:lstStyle/>
                    <a:p>
                      <a:r>
                        <a:rPr sz="1800" b="1">
                          <a:solidFill>
                            <a:srgbClr val="007F86"/>
                          </a:solidFill>
                          <a:latin typeface="Aptos"/>
                          <a:ea typeface="Aptos"/>
                          <a:cs typeface="Aptos"/>
                        </a:rPr>
                        <a:t>[Highest-priority action]</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[Name]</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[Date]</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[Plot / model / measurement]</a:t>
                      </a:r>
                    </a:p>
                  </a:txBody>
                  <a:tcPr marL="133350" marR="133350" marT="95250" marB="95250">
                    <a:solidFill>
                      <a:srgbClr val="EAF8F8"/>
                    </a:solidFill>
                  </a:tcPr>
                </a:tc>
              </a:tr>
              <a:tr h="792956">
                <a:tc>
                  <a:txBody>
                    <a:bodyPr>
                      <a:noAutofit/>
                    </a:bodyPr>
                    <a:lstStyle/>
                    <a:p>
                      <a:r>
                        <a:rPr sz="1800" b="1">
                          <a:solidFill>
                            <a:srgbClr val="007F86"/>
                          </a:solidFill>
                          <a:latin typeface="Aptos"/>
                          <a:ea typeface="Aptos"/>
                          <a:cs typeface="Aptos"/>
                        </a:rPr>
                        <a:t>[Second action]</a:t>
                      </a:r>
                    </a:p>
                  </a:txBody>
                  <a:tcPr marL="133350" marR="133350" marT="95250" marB="95250">
                    <a:solidFill>
                      <a:srgbClr val="FFFFFF"/>
                    </a:solidFill>
                  </a:tcPr>
                </a:tc>
                <a:tc>
                  <a:txBody>
                    <a:bodyPr>
                      <a:noAutofit/>
                    </a:bodyPr>
                    <a:lstStyle/>
                    <a:p>
                      <a:r>
                        <a:rPr sz="1800" b="0">
                          <a:solidFill>
                            <a:srgbClr val="17343E"/>
                          </a:solidFill>
                          <a:latin typeface="Aptos"/>
                          <a:ea typeface="Aptos"/>
                          <a:cs typeface="Aptos"/>
                        </a:rPr>
                        <a:t>[Name]</a:t>
                      </a:r>
                    </a:p>
                  </a:txBody>
                  <a:tcPr marL="133350" marR="133350" marT="95250" marB="95250">
                    <a:solidFill>
                      <a:srgbClr val="FFFFFF"/>
                    </a:solidFill>
                  </a:tcPr>
                </a:tc>
                <a:tc>
                  <a:txBody>
                    <a:bodyPr>
                      <a:noAutofit/>
                    </a:bodyPr>
                    <a:lstStyle/>
                    <a:p>
                      <a:r>
                        <a:rPr sz="1800" b="0">
                          <a:solidFill>
                            <a:srgbClr val="17343E"/>
                          </a:solidFill>
                          <a:latin typeface="Aptos"/>
                          <a:ea typeface="Aptos"/>
                          <a:cs typeface="Aptos"/>
                        </a:rPr>
                        <a:t>[Date]</a:t>
                      </a:r>
                    </a:p>
                  </a:txBody>
                  <a:tcPr marL="133350" marR="133350" marT="95250" marB="95250">
                    <a:solidFill>
                      <a:srgbClr val="FFFFFF"/>
                    </a:solidFill>
                  </a:tcPr>
                </a:tc>
                <a:tc>
                  <a:txBody>
                    <a:bodyPr>
                      <a:noAutofit/>
                    </a:bodyPr>
                    <a:lstStyle/>
                    <a:p>
                      <a:r>
                        <a:rPr sz="1800" b="0">
                          <a:solidFill>
                            <a:srgbClr val="17343E"/>
                          </a:solidFill>
                          <a:latin typeface="Aptos"/>
                          <a:ea typeface="Aptos"/>
                          <a:cs typeface="Aptos"/>
                        </a:rPr>
                        <a:t>[Deliverable]</a:t>
                      </a:r>
                    </a:p>
                  </a:txBody>
                  <a:tcPr marL="133350" marR="133350" marT="95250" marB="95250">
                    <a:solidFill>
                      <a:srgbClr val="FFFFFF"/>
                    </a:solidFill>
                  </a:tcPr>
                </a:tc>
              </a:tr>
              <a:tr h="792956">
                <a:tc>
                  <a:txBody>
                    <a:bodyPr>
                      <a:noAutofit/>
                    </a:bodyPr>
                    <a:lstStyle/>
                    <a:p>
                      <a:r>
                        <a:rPr sz="1800" b="1">
                          <a:solidFill>
                            <a:srgbClr val="007F86"/>
                          </a:solidFill>
                          <a:latin typeface="Aptos"/>
                          <a:ea typeface="Aptos"/>
                          <a:cs typeface="Aptos"/>
                        </a:rPr>
                        <a:t>[Decision to resolve]</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[Name]</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[Date]</a:t>
                      </a:r>
                    </a:p>
                  </a:txBody>
                  <a:tcPr marL="133350" marR="133350" marT="95250" marB="95250">
                    <a:solidFill>
                      <a:srgbClr val="EAF8F8"/>
                    </a:solidFill>
                  </a:tcPr>
                </a:tc>
                <a:tc>
                  <a:txBody>
                    <a:bodyPr>
                      <a:noAutofit/>
                    </a:bodyPr>
                    <a:lstStyle/>
                    <a:p>
                      <a:r>
                        <a:rPr sz="1800" b="0">
                          <a:solidFill>
                            <a:srgbClr val="17343E"/>
                          </a:solidFill>
                          <a:latin typeface="Aptos"/>
                          <a:ea typeface="Aptos"/>
                          <a:cs typeface="Aptos"/>
                        </a:rPr>
                        <a:t>[Documented choice]</a:t>
                      </a:r>
                    </a:p>
                  </a:txBody>
                  <a:tcPr marL="133350" marR="133350" marT="95250" marB="95250">
                    <a:solidFill>
                      <a:srgbClr val="EAF8F8"/>
                    </a:solidFill>
                  </a:tcPr>
                </a:tc>
              </a:tr>
            </a:tbl>
          </a:graphicData>
        </a:graphic>
      </p:graphicFrame>
      <p:sp>
        <p:nvSpPr>
          <p:cNvPr id="5" name="">
            <a:extLst xmlns:a="http://schemas.openxmlformats.org/drawingml/2006/main">
              <a:ext uri="{FF2B5EF4-FFF2-40B4-BE49-F238E27FC236}">
                <a16:creationId xmlns:a16="http://schemas.microsoft.com/office/drawing/2014/main" id="{B25277FA-58DA-4CAA-A0EE-7AF3CC7B26EE}"/>
              </a:ext>
            </a:extLst>
          </p:cNvPr>
          <p:cNvSpPr>
            <a:spLocks xmlns:a="http://schemas.openxmlformats.org/drawingml/2006/main" noGrp="1"/>
          </p:cNvSpPr>
          <p:nvPr/>
        </p:nvSpPr>
        <p:spPr>
          <a:xfrm xmlns:a="http://schemas.openxmlformats.org/drawingml/2006/main">
            <a:off x="552450" y="53435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7F86"/>
                </a:solidFill>
                <a:latin typeface="Aptos"/>
                <a:ea typeface="Aptos"/>
                <a:cs typeface="Aptos"/>
              </a:defRPr>
            </a:pPr>
            <a:r>
              <a:rPr sz="2100" b="1">
                <a:solidFill>
                  <a:srgbClr val="007F86"/>
                </a:solidFill>
                <a:latin typeface="Aptos"/>
                <a:ea typeface="Aptos"/>
                <a:cs typeface="Aptos"/>
              </a:rPr>
              <a:t>Meeting takeaway: [decision, implication and immediate next step]</a:t>
            </a:r>
          </a:p>
        </p:txBody>
      </p:sp>
    </p:spTree>
    <p:extLst>
      <p:ext uri="{BB962C8B-B14F-4D97-AF65-F5344CB8AC3E}">
        <p14:creationId xmlns:p14="http://schemas.microsoft.com/office/powerpoint/2010/main" val="41060644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E52B1A-F7B1-43B0-AC5E-855AF8C0B9F8}"/>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Weekly workflow and references</a:t>
            </a:r>
          </a:p>
        </p:txBody>
      </p:sp>
      <p:sp>
        <p:nvSpPr>
          <p:cNvPr id="2" name="">
            <a:extLst xmlns:a="http://schemas.openxmlformats.org/drawingml/2006/main">
              <a:ext uri="{FF2B5EF4-FFF2-40B4-BE49-F238E27FC236}">
                <a16:creationId xmlns:a16="http://schemas.microsoft.com/office/drawing/2014/main" id="{D19BC0BD-52CA-42E5-87D7-FE9B12E3CDF6}"/>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Reference page for maintaining the deck</a:t>
            </a:r>
          </a:p>
        </p:txBody>
      </p:sp>
      <p:sp>
        <p:nvSpPr>
          <p:cNvPr id="3" name="">
            <a:extLst xmlns:a="http://schemas.openxmlformats.org/drawingml/2006/main">
              <a:ext uri="{FF2B5EF4-FFF2-40B4-BE49-F238E27FC236}">
                <a16:creationId xmlns:a16="http://schemas.microsoft.com/office/drawing/2014/main" id="{62F1602A-3BA7-4EAA-9A43-C1369A7D19C5}"/>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8DDE9E9A-9A65-4B85-A7B7-76D8C41EF0CA}"/>
              </a:ext>
            </a:extLst>
          </p:cNvPr>
          <p:cNvSpPr>
            <a:spLocks xmlns:a="http://schemas.openxmlformats.org/drawingml/2006/main" noGrp="1"/>
          </p:cNvSpPr>
          <p:nvPr/>
        </p:nvSpPr>
        <p:spPr>
          <a:xfrm xmlns:a="http://schemas.openxmlformats.org/drawingml/2006/main">
            <a:off x="552450" y="1762125"/>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7F86"/>
                </a:solidFill>
                <a:latin typeface="Aptos"/>
                <a:ea typeface="Aptos"/>
                <a:cs typeface="Aptos"/>
              </a:defRPr>
            </a:pPr>
            <a:r>
              <a:rPr sz="2175" b="1">
                <a:solidFill>
                  <a:srgbClr val="007F86"/>
                </a:solidFill>
                <a:latin typeface="Aptos"/>
                <a:ea typeface="Aptos"/>
                <a:cs typeface="Aptos"/>
              </a:rPr>
              <a:t>Weekly workflow</a:t>
            </a:r>
          </a:p>
        </p:txBody>
      </p:sp>
      <p:sp>
        <p:nvSpPr>
          <p:cNvPr id="5" name="">
            <a:extLst xmlns:a="http://schemas.openxmlformats.org/drawingml/2006/main">
              <a:ext uri="{FF2B5EF4-FFF2-40B4-BE49-F238E27FC236}">
                <a16:creationId xmlns:a16="http://schemas.microsoft.com/office/drawing/2014/main" id="{36E0FA2D-AA20-4384-8D7C-12EB57B6058D}"/>
              </a:ext>
            </a:extLst>
          </p:cNvPr>
          <p:cNvSpPr>
            <a:spLocks xmlns:a="http://schemas.openxmlformats.org/drawingml/2006/main" noGrp="1"/>
          </p:cNvSpPr>
          <p:nvPr/>
        </p:nvSpPr>
        <p:spPr>
          <a:xfrm xmlns:a="http://schemas.openxmlformats.org/drawingml/2006/main">
            <a:off x="552450" y="2324100"/>
            <a:ext cx="4810125"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7343E"/>
                </a:solidFill>
                <a:latin typeface="Aptos"/>
                <a:ea typeface="Aptos"/>
                <a:cs typeface="Aptos"/>
              </a:defRPr>
            </a:pPr>
            <a:r>
              <a:rPr sz="2025" b="0">
                <a:solidFill>
                  <a:srgbClr val="17343E"/>
                </a:solidFill>
                <a:latin typeface="Aptos"/>
                <a:ea typeface="Aptos"/>
                <a:cs typeface="Aptos"/>
              </a:rPr>
              <a:t>Duplicate slides 8–15 as a dated block.</a:t>
            </a:r>
          </a:p>
          <a:p xmlns:a="http://schemas.openxmlformats.org/drawingml/2006/main">
            <a:pPr>
              <a:buNone/>
              <a:defRPr sz="2025" b="0">
                <a:solidFill>
                  <a:srgbClr val="17343E"/>
                </a:solidFill>
                <a:latin typeface="Aptos"/>
                <a:ea typeface="Aptos"/>
                <a:cs typeface="Aptos"/>
              </a:defRPr>
            </a:pPr>
            <a:r>
              <a:rPr sz="2025" b="0">
                <a:solidFill>
                  <a:srgbClr val="17343E"/>
                </a:solidFill>
                <a:latin typeface="Aptos"/>
                <a:ea typeface="Aptos"/>
                <a:cs typeface="Aptos"/>
              </a:rPr>
              <a:t>Replace plot fields and update tables.</a:t>
            </a:r>
          </a:p>
          <a:p xmlns:a="http://schemas.openxmlformats.org/drawingml/2006/main">
            <a:pPr>
              <a:buNone/>
              <a:defRPr sz="2025" b="0">
                <a:solidFill>
                  <a:srgbClr val="17343E"/>
                </a:solidFill>
                <a:latin typeface="Aptos"/>
                <a:ea typeface="Aptos"/>
                <a:cs typeface="Aptos"/>
              </a:defRPr>
            </a:pPr>
            <a:r>
              <a:rPr sz="2025" b="0">
                <a:solidFill>
                  <a:srgbClr val="17343E"/>
                </a:solidFill>
                <a:latin typeface="Aptos"/>
                <a:ea typeface="Aptos"/>
                <a:cs typeface="Aptos"/>
              </a:rPr>
              <a:t>Record model versions in notes.</a:t>
            </a:r>
          </a:p>
          <a:p xmlns:a="http://schemas.openxmlformats.org/drawingml/2006/main">
            <a:pPr>
              <a:buNone/>
              <a:defRPr sz="2025" b="0">
                <a:solidFill>
                  <a:srgbClr val="17343E"/>
                </a:solidFill>
                <a:latin typeface="Aptos"/>
                <a:ea typeface="Aptos"/>
                <a:cs typeface="Aptos"/>
              </a:defRPr>
            </a:pPr>
            <a:r>
              <a:rPr sz="2025" b="0">
                <a:solidFill>
                  <a:srgbClr val="17343E"/>
                </a:solidFill>
                <a:latin typeface="Aptos"/>
                <a:ea typeface="Aptos"/>
                <a:cs typeface="Aptos"/>
              </a:rPr>
              <a:t>Keep prior weeks for comparison.</a:t>
            </a:r>
          </a:p>
        </p:txBody>
      </p:sp>
      <p:sp>
        <p:nvSpPr>
          <p:cNvPr id="6" name="">
            <a:extLst xmlns:a="http://schemas.openxmlformats.org/drawingml/2006/main">
              <a:ext uri="{FF2B5EF4-FFF2-40B4-BE49-F238E27FC236}">
                <a16:creationId xmlns:a16="http://schemas.microsoft.com/office/drawing/2014/main" id="{2CE22A45-160D-467C-B3DC-B8468EB039B3}"/>
              </a:ext>
            </a:extLst>
          </p:cNvPr>
          <p:cNvSpPr>
            <a:spLocks xmlns:a="http://schemas.openxmlformats.org/drawingml/2006/main" noGrp="1"/>
          </p:cNvSpPr>
          <p:nvPr/>
        </p:nvSpPr>
        <p:spPr>
          <a:xfrm xmlns:a="http://schemas.openxmlformats.org/drawingml/2006/main">
            <a:off x="6400800" y="17621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7F86"/>
                </a:solidFill>
                <a:latin typeface="Aptos"/>
                <a:ea typeface="Aptos"/>
                <a:cs typeface="Aptos"/>
              </a:defRPr>
            </a:pPr>
            <a:r>
              <a:rPr sz="2175" b="1">
                <a:solidFill>
                  <a:srgbClr val="007F86"/>
                </a:solidFill>
                <a:latin typeface="Aptos"/>
                <a:ea typeface="Aptos"/>
                <a:cs typeface="Aptos"/>
              </a:rPr>
              <a:t>Reference material</a:t>
            </a:r>
          </a:p>
        </p:txBody>
      </p:sp>
      <p:sp>
        <p:nvSpPr>
          <p:cNvPr id="7" name="">
            <a:extLst xmlns:a="http://schemas.openxmlformats.org/drawingml/2006/main">
              <a:ext uri="{FF2B5EF4-FFF2-40B4-BE49-F238E27FC236}">
                <a16:creationId xmlns:a16="http://schemas.microsoft.com/office/drawing/2014/main" id="{39DD3098-AF02-4F0A-B6D9-8159D641CABD}"/>
              </a:ext>
            </a:extLst>
          </p:cNvPr>
          <p:cNvSpPr>
            <a:spLocks xmlns:a="http://schemas.openxmlformats.org/drawingml/2006/main" noGrp="1"/>
          </p:cNvSpPr>
          <p:nvPr/>
        </p:nvSpPr>
        <p:spPr>
          <a:xfrm xmlns:a="http://schemas.openxmlformats.org/drawingml/2006/main">
            <a:off x="6400800" y="2324100"/>
            <a:ext cx="51816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Optical Modeling Overview</a:t>
            </a:r>
          </a:p>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Kaylah McGowan, 15 September 2026</a:t>
            </a:r>
          </a:p>
          <a:p xmlns:a="http://schemas.openxmlformats.org/drawingml/2006/main">
            <a:r>
              <a:t/>
            </a:r>
          </a:p>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Creighton et al., arXiv:2508.18437</a:t>
            </a:r>
          </a:p>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Panning et al., arXiv:2509.15452</a:t>
            </a:r>
          </a:p>
          <a:p xmlns:a="http://schemas.openxmlformats.org/drawingml/2006/main">
            <a:r>
              <a:t/>
            </a:r>
          </a:p>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Finesse manual and Siegman, Lasers</a:t>
            </a:r>
          </a:p>
        </p:txBody>
      </p:sp>
      <p:sp>
        <p:nvSpPr>
          <p:cNvPr id="8" name="">
            <a:extLst xmlns:a="http://schemas.openxmlformats.org/drawingml/2006/main">
              <a:ext uri="{FF2B5EF4-FFF2-40B4-BE49-F238E27FC236}">
                <a16:creationId xmlns:a16="http://schemas.microsoft.com/office/drawing/2014/main" id="{A930DAE0-39E2-49C7-9F14-5CC0B86176E9}"/>
              </a:ext>
            </a:extLst>
          </p:cNvPr>
          <p:cNvSpPr>
            <a:spLocks xmlns:a="http://schemas.openxmlformats.org/drawingml/2006/main" noGrp="1"/>
          </p:cNvSpPr>
          <p:nvPr/>
        </p:nvSpPr>
        <p:spPr>
          <a:xfrm xmlns:a="http://schemas.openxmlformats.org/drawingml/2006/main">
            <a:off x="552450" y="57435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D7078"/>
                </a:solidFill>
                <a:latin typeface="Aptos"/>
                <a:ea typeface="Aptos"/>
                <a:cs typeface="Aptos"/>
              </a:defRPr>
            </a:pPr>
            <a:r>
              <a:rPr sz="1800" b="0">
                <a:solidFill>
                  <a:srgbClr val="5D7078"/>
                </a:solidFill>
                <a:latin typeface="Aptos"/>
                <a:ea typeface="Aptos"/>
                <a:cs typeface="Aptos"/>
              </a:rPr>
              <a:t>Pending inputs: Teviet’s numerical curves and mode table, exact Joseph paper, and readout choice.</a:t>
            </a:r>
          </a:p>
        </p:txBody>
      </p:sp>
    </p:spTree>
    <p:extLst>
      <p:ext uri="{BB962C8B-B14F-4D97-AF65-F5344CB8AC3E}">
        <p14:creationId xmlns:p14="http://schemas.microsoft.com/office/powerpoint/2010/main" val="68899536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8AB21F-69CA-4E2E-B7D7-A81206503A7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Reference noise near the 1 mHz target</a:t>
            </a:r>
          </a:p>
        </p:txBody>
      </p:sp>
      <p:sp>
        <p:nvSpPr>
          <p:cNvPr id="2" name="">
            <a:extLst xmlns:a="http://schemas.openxmlformats.org/drawingml/2006/main">
              <a:ext uri="{FF2B5EF4-FFF2-40B4-BE49-F238E27FC236}">
                <a16:creationId xmlns:a16="http://schemas.microsoft.com/office/drawing/2014/main" id="{83898337-270D-495E-9508-00A371AA075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D7078"/>
                </a:solidFill>
                <a:latin typeface="Aptos"/>
                <a:ea typeface="Aptos"/>
                <a:cs typeface="Aptos"/>
              </a:defRPr>
            </a:pPr>
            <a:r>
              <a:rPr sz="1500" b="0">
                <a:solidFill>
                  <a:srgbClr val="5D7078"/>
                </a:solidFill>
                <a:latin typeface="Aptos"/>
                <a:ea typeface="Aptos"/>
                <a:cs typeface="Aptos"/>
              </a:rPr>
              <a:t>24 September 2026    1 km arms, 1064 nm, 300 K, effective detected power 0.5 W</a:t>
            </a:r>
          </a:p>
        </p:txBody>
      </p:sp>
      <p:sp>
        <p:nvSpPr>
          <p:cNvPr id="3" name="">
            <a:extLst xmlns:a="http://schemas.openxmlformats.org/drawingml/2006/main">
              <a:ext uri="{FF2B5EF4-FFF2-40B4-BE49-F238E27FC236}">
                <a16:creationId xmlns:a16="http://schemas.microsoft.com/office/drawing/2014/main" id="{E269B9BD-0045-46D8-BF86-4E8DE785F892}"/>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17</a:t>
            </a:r>
          </a:p>
        </p:txBody>
      </p:sp>
      <p:sp>
        <p:nvSpPr>
          <p:cNvPr id="4" name="">
            <a:extLst xmlns:a="http://schemas.openxmlformats.org/drawingml/2006/main">
              <a:ext uri="{FF2B5EF4-FFF2-40B4-BE49-F238E27FC236}">
                <a16:creationId xmlns:a16="http://schemas.microsoft.com/office/drawing/2014/main" id="{B6E28D0E-F214-42D8-AD0B-C09900826F19}"/>
              </a:ext>
            </a:extLst>
          </p:cNvPr>
          <p:cNvSpPr>
            <a:spLocks xmlns:a="http://schemas.openxmlformats.org/drawingml/2006/main" noGrp="1"/>
          </p:cNvSpPr>
          <p:nvPr/>
        </p:nvSpPr>
        <p:spPr>
          <a:xfrm xmlns:a="http://schemas.openxmlformats.org/drawingml/2006/main">
            <a:off x="533400" y="1695450"/>
            <a:ext cx="7762875" cy="37338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a:r>
          </a:p>
        </p:txBody>
      </p:sp>
      <p:sp>
        <p:nvSpPr>
          <p:cNvPr id="5" name="">
            <a:extLst xmlns:a="http://schemas.openxmlformats.org/drawingml/2006/main">
              <a:ext uri="{FF2B5EF4-FFF2-40B4-BE49-F238E27FC236}">
                <a16:creationId xmlns:a16="http://schemas.microsoft.com/office/drawing/2014/main" id="{00292AF2-DF74-4DFA-B48E-CAD3CDD385EF}"/>
              </a:ext>
            </a:extLst>
          </p:cNvPr>
          <p:cNvSpPr>
            <a:spLocks xmlns:a="http://schemas.openxmlformats.org/drawingml/2006/main" noGrp="1"/>
          </p:cNvSpPr>
          <p:nvPr/>
        </p:nvSpPr>
        <p:spPr>
          <a:xfrm xmlns:a="http://schemas.openxmlformats.org/drawingml/2006/main">
            <a:off x="8734425" y="177165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At 1 mHz</a:t>
            </a:r>
          </a:p>
        </p:txBody>
      </p:sp>
      <p:sp>
        <p:nvSpPr>
          <p:cNvPr id="6" name="">
            <a:extLst xmlns:a="http://schemas.openxmlformats.org/drawingml/2006/main">
              <a:ext uri="{FF2B5EF4-FFF2-40B4-BE49-F238E27FC236}">
                <a16:creationId xmlns:a16="http://schemas.microsoft.com/office/drawing/2014/main" id="{EC2B7509-9A9A-41AF-987C-F7A4DCE10BAE}"/>
              </a:ext>
            </a:extLst>
          </p:cNvPr>
          <p:cNvSpPr>
            <a:spLocks xmlns:a="http://schemas.openxmlformats.org/drawingml/2006/main" noGrp="1"/>
          </p:cNvSpPr>
          <p:nvPr/>
        </p:nvSpPr>
        <p:spPr>
          <a:xfrm xmlns:a="http://schemas.openxmlformats.org/drawingml/2006/main">
            <a:off x="8734425" y="2171700"/>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1.10 × 10⁻¹⁵ m/√Hz</a:t>
            </a:r>
          </a:p>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Reference sum</a:t>
            </a:r>
          </a:p>
        </p:txBody>
      </p:sp>
      <p:sp>
        <p:nvSpPr>
          <p:cNvPr id="7" name="">
            <a:extLst xmlns:a="http://schemas.openxmlformats.org/drawingml/2006/main">
              <a:ext uri="{FF2B5EF4-FFF2-40B4-BE49-F238E27FC236}">
                <a16:creationId xmlns:a16="http://schemas.microsoft.com/office/drawing/2014/main" id="{F4CDB2CA-C3E9-4105-A5F5-06DC0A9A6F1E}"/>
              </a:ext>
            </a:extLst>
          </p:cNvPr>
          <p:cNvSpPr>
            <a:spLocks xmlns:a="http://schemas.openxmlformats.org/drawingml/2006/main" noGrp="1"/>
          </p:cNvSpPr>
          <p:nvPr/>
        </p:nvSpPr>
        <p:spPr>
          <a:xfrm xmlns:a="http://schemas.openxmlformats.org/drawingml/2006/main">
            <a:off x="8734425" y="316230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Preliminary target</a:t>
            </a:r>
          </a:p>
        </p:txBody>
      </p:sp>
      <p:sp>
        <p:nvSpPr>
          <p:cNvPr id="8" name="">
            <a:extLst xmlns:a="http://schemas.openxmlformats.org/drawingml/2006/main">
              <a:ext uri="{FF2B5EF4-FFF2-40B4-BE49-F238E27FC236}">
                <a16:creationId xmlns:a16="http://schemas.microsoft.com/office/drawing/2014/main" id="{D84C82D2-9E92-45CF-8D58-918C9C4CAB15}"/>
              </a:ext>
            </a:extLst>
          </p:cNvPr>
          <p:cNvSpPr>
            <a:spLocks xmlns:a="http://schemas.openxmlformats.org/drawingml/2006/main" noGrp="1"/>
          </p:cNvSpPr>
          <p:nvPr/>
        </p:nvSpPr>
        <p:spPr>
          <a:xfrm xmlns:a="http://schemas.openxmlformats.org/drawingml/2006/main">
            <a:off x="8734425" y="3562350"/>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1.00 × 10⁻¹⁵ m/√Hz</a:t>
            </a:r>
          </a:p>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Reference ≈10% above</a:t>
            </a:r>
          </a:p>
        </p:txBody>
      </p:sp>
      <p:sp>
        <p:nvSpPr>
          <p:cNvPr id="9" name="">
            <a:extLst xmlns:a="http://schemas.openxmlformats.org/drawingml/2006/main">
              <a:ext uri="{FF2B5EF4-FFF2-40B4-BE49-F238E27FC236}">
                <a16:creationId xmlns:a16="http://schemas.microsoft.com/office/drawing/2014/main" id="{FCA83083-711D-4C65-84B9-94974ABDB313}"/>
              </a:ext>
            </a:extLst>
          </p:cNvPr>
          <p:cNvSpPr>
            <a:spLocks xmlns:a="http://schemas.openxmlformats.org/drawingml/2006/main" noGrp="1"/>
          </p:cNvSpPr>
          <p:nvPr/>
        </p:nvSpPr>
        <p:spPr>
          <a:xfrm xmlns:a="http://schemas.openxmlformats.org/drawingml/2006/main">
            <a:off x="8734425" y="4524375"/>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Reference scope</a:t>
            </a:r>
          </a:p>
        </p:txBody>
      </p:sp>
      <p:sp>
        <p:nvSpPr>
          <p:cNvPr id="10" name="">
            <a:extLst xmlns:a="http://schemas.openxmlformats.org/drawingml/2006/main">
              <a:ext uri="{FF2B5EF4-FFF2-40B4-BE49-F238E27FC236}">
                <a16:creationId xmlns:a16="http://schemas.microsoft.com/office/drawing/2014/main" id="{F4961A88-803E-4723-B689-A86FADE261A2}"/>
              </a:ext>
            </a:extLst>
          </p:cNvPr>
          <p:cNvSpPr>
            <a:spLocks xmlns:a="http://schemas.openxmlformats.org/drawingml/2006/main" noGrp="1"/>
          </p:cNvSpPr>
          <p:nvPr/>
        </p:nvSpPr>
        <p:spPr>
          <a:xfrm xmlns:a="http://schemas.openxmlformats.org/drawingml/2006/main">
            <a:off x="8734425" y="4924425"/>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Thermal, shot and dust</a:t>
            </a:r>
          </a:p>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Optimistic thermal case</a:t>
            </a:r>
          </a:p>
        </p:txBody>
      </p:sp>
      <p:sp>
        <p:nvSpPr>
          <p:cNvPr id="11" name="">
            <a:extLst xmlns:a="http://schemas.openxmlformats.org/drawingml/2006/main">
              <a:ext uri="{FF2B5EF4-FFF2-40B4-BE49-F238E27FC236}">
                <a16:creationId xmlns:a16="http://schemas.microsoft.com/office/drawing/2014/main" id="{1700F614-C4C4-4742-BC3C-B98877C525D8}"/>
              </a:ext>
            </a:extLst>
          </p:cNvPr>
          <p:cNvSpPr>
            <a:spLocks xmlns:a="http://schemas.openxmlformats.org/drawingml/2006/main" noGrp="1"/>
          </p:cNvSpPr>
          <p:nvPr/>
        </p:nvSpPr>
        <p:spPr>
          <a:xfrm xmlns:a="http://schemas.openxmlformats.org/drawingml/2006/main">
            <a:off x="8734425" y="5876925"/>
            <a:ext cx="2924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7F86"/>
                </a:solidFill>
                <a:latin typeface="Aptos"/>
                <a:ea typeface="Aptos"/>
                <a:cs typeface="Aptos"/>
              </a:defRPr>
            </a:pPr>
            <a:r>
              <a:rPr sz="1425" b="1">
                <a:solidFill>
                  <a:srgbClr val="007F86"/>
                </a:solidFill>
                <a:latin typeface="Aptos"/>
                <a:ea typeface="Aptos"/>
                <a:cs typeface="Aptos"/>
              </a:rPr>
              <a:t>Seismic and technical noise remain unmodeled.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2b1542132ab4e9c"/>
          <a:stretch xmlns:a="http://schemas.openxmlformats.org/drawingml/2006/main"/>
        </p:blipFill>
        <p:spPr>
          <a:xfrm xmlns:a="http://schemas.openxmlformats.org/drawingml/2006/main">
            <a:off x="333375" y="1466850"/>
            <a:ext cx="8191500" cy="4914900"/>
          </a:xfrm>
          <a:prstGeom xmlns:a="http://schemas.openxmlformats.org/drawingml/2006/main" prst="rect">
            <a:avLst/>
          </a:prstGeom>
        </p:spPr>
      </p:pic>
    </p:spTree>
    <p:extLst>
      <p:ext uri="{BB962C8B-B14F-4D97-AF65-F5344CB8AC3E}">
        <p14:creationId xmlns:p14="http://schemas.microsoft.com/office/powerpoint/2010/main" val="3370034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8AB21F-69CA-4E2E-B7D7-A81206503A7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Allowance for additional independent noise</a:t>
            </a:r>
          </a:p>
        </p:txBody>
      </p:sp>
      <p:sp>
        <p:nvSpPr>
          <p:cNvPr id="2" name="">
            <a:extLst xmlns:a="http://schemas.openxmlformats.org/drawingml/2006/main">
              <a:ext uri="{FF2B5EF4-FFF2-40B4-BE49-F238E27FC236}">
                <a16:creationId xmlns:a16="http://schemas.microsoft.com/office/drawing/2014/main" id="{83898337-270D-495E-9508-00A371AA075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D7078"/>
                </a:solidFill>
                <a:latin typeface="Aptos"/>
                <a:ea typeface="Aptos"/>
                <a:cs typeface="Aptos"/>
              </a:defRPr>
            </a:pPr>
            <a:r>
              <a:rPr sz="1500" b="0">
                <a:solidFill>
                  <a:srgbClr val="5D7078"/>
                </a:solidFill>
                <a:latin typeface="Aptos"/>
                <a:ea typeface="Aptos"/>
                <a:cs typeface="Aptos"/>
              </a:rPr>
              <a:t>24 September 2026    Remaining PSD = target PSD − reference PSD</a:t>
            </a:r>
          </a:p>
        </p:txBody>
      </p:sp>
      <p:sp>
        <p:nvSpPr>
          <p:cNvPr id="3" name="">
            <a:extLst xmlns:a="http://schemas.openxmlformats.org/drawingml/2006/main">
              <a:ext uri="{FF2B5EF4-FFF2-40B4-BE49-F238E27FC236}">
                <a16:creationId xmlns:a16="http://schemas.microsoft.com/office/drawing/2014/main" id="{E269B9BD-0045-46D8-BF86-4E8DE785F892}"/>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18</a:t>
            </a:r>
          </a:p>
        </p:txBody>
      </p:sp>
      <p:sp>
        <p:nvSpPr>
          <p:cNvPr id="4" name="">
            <a:extLst xmlns:a="http://schemas.openxmlformats.org/drawingml/2006/main">
              <a:ext uri="{FF2B5EF4-FFF2-40B4-BE49-F238E27FC236}">
                <a16:creationId xmlns:a16="http://schemas.microsoft.com/office/drawing/2014/main" id="{B6E28D0E-F214-42D8-AD0B-C09900826F19}"/>
              </a:ext>
            </a:extLst>
          </p:cNvPr>
          <p:cNvSpPr>
            <a:spLocks xmlns:a="http://schemas.openxmlformats.org/drawingml/2006/main" noGrp="1"/>
          </p:cNvSpPr>
          <p:nvPr/>
        </p:nvSpPr>
        <p:spPr>
          <a:xfrm xmlns:a="http://schemas.openxmlformats.org/drawingml/2006/main">
            <a:off x="533400" y="1695450"/>
            <a:ext cx="7762875" cy="37338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a:r>
          </a:p>
        </p:txBody>
      </p:sp>
      <p:sp>
        <p:nvSpPr>
          <p:cNvPr id="5" name="">
            <a:extLst xmlns:a="http://schemas.openxmlformats.org/drawingml/2006/main">
              <a:ext uri="{FF2B5EF4-FFF2-40B4-BE49-F238E27FC236}">
                <a16:creationId xmlns:a16="http://schemas.microsoft.com/office/drawing/2014/main" id="{00292AF2-DF74-4DFA-B48E-CAD3CDD385EF}"/>
              </a:ext>
            </a:extLst>
          </p:cNvPr>
          <p:cNvSpPr>
            <a:spLocks xmlns:a="http://schemas.openxmlformats.org/drawingml/2006/main" noGrp="1"/>
          </p:cNvSpPr>
          <p:nvPr/>
        </p:nvSpPr>
        <p:spPr>
          <a:xfrm xmlns:a="http://schemas.openxmlformats.org/drawingml/2006/main">
            <a:off x="8734425" y="177165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Flat target boundary</a:t>
            </a:r>
          </a:p>
        </p:txBody>
      </p:sp>
      <p:sp>
        <p:nvSpPr>
          <p:cNvPr id="6" name="">
            <a:extLst xmlns:a="http://schemas.openxmlformats.org/drawingml/2006/main">
              <a:ext uri="{FF2B5EF4-FFF2-40B4-BE49-F238E27FC236}">
                <a16:creationId xmlns:a16="http://schemas.microsoft.com/office/drawing/2014/main" id="{EC2B7509-9A9A-41AF-987C-F7A4DCE10BAE}"/>
              </a:ext>
            </a:extLst>
          </p:cNvPr>
          <p:cNvSpPr>
            <a:spLocks xmlns:a="http://schemas.openxmlformats.org/drawingml/2006/main" noGrp="1"/>
          </p:cNvSpPr>
          <p:nvPr/>
        </p:nvSpPr>
        <p:spPr>
          <a:xfrm xmlns:a="http://schemas.openxmlformats.org/drawingml/2006/main">
            <a:off x="8734425" y="2171700"/>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No positive allowance</a:t>
            </a:r>
          </a:p>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below ≈1.213 mHz</a:t>
            </a:r>
          </a:p>
        </p:txBody>
      </p:sp>
      <p:sp>
        <p:nvSpPr>
          <p:cNvPr id="7" name="">
            <a:extLst xmlns:a="http://schemas.openxmlformats.org/drawingml/2006/main">
              <a:ext uri="{FF2B5EF4-FFF2-40B4-BE49-F238E27FC236}">
                <a16:creationId xmlns:a16="http://schemas.microsoft.com/office/drawing/2014/main" id="{F4CDB2CA-C3E9-4105-A5F5-06DC0A9A6F1E}"/>
              </a:ext>
            </a:extLst>
          </p:cNvPr>
          <p:cNvSpPr>
            <a:spLocks xmlns:a="http://schemas.openxmlformats.org/drawingml/2006/main" noGrp="1"/>
          </p:cNvSpPr>
          <p:nvPr/>
        </p:nvSpPr>
        <p:spPr>
          <a:xfrm xmlns:a="http://schemas.openxmlformats.org/drawingml/2006/main">
            <a:off x="8734425" y="316230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Shared allowance</a:t>
            </a:r>
          </a:p>
        </p:txBody>
      </p:sp>
      <p:sp>
        <p:nvSpPr>
          <p:cNvPr id="8" name="">
            <a:extLst xmlns:a="http://schemas.openxmlformats.org/drawingml/2006/main">
              <a:ext uri="{FF2B5EF4-FFF2-40B4-BE49-F238E27FC236}">
                <a16:creationId xmlns:a16="http://schemas.microsoft.com/office/drawing/2014/main" id="{D84C82D2-9E92-45CF-8D58-918C9C4CAB15}"/>
              </a:ext>
            </a:extLst>
          </p:cNvPr>
          <p:cNvSpPr>
            <a:spLocks xmlns:a="http://schemas.openxmlformats.org/drawingml/2006/main" noGrp="1"/>
          </p:cNvSpPr>
          <p:nvPr/>
        </p:nvSpPr>
        <p:spPr>
          <a:xfrm xmlns:a="http://schemas.openxmlformats.org/drawingml/2006/main">
            <a:off x="8734425" y="3562350"/>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Seismic, laser and all other omitted terms share the remainder.</a:t>
            </a:r>
          </a:p>
        </p:txBody>
      </p:sp>
      <p:sp>
        <p:nvSpPr>
          <p:cNvPr id="9" name="">
            <a:extLst xmlns:a="http://schemas.openxmlformats.org/drawingml/2006/main">
              <a:ext uri="{FF2B5EF4-FFF2-40B4-BE49-F238E27FC236}">
                <a16:creationId xmlns:a16="http://schemas.microsoft.com/office/drawing/2014/main" id="{FCA83083-711D-4C65-84B9-94974ABDB313}"/>
              </a:ext>
            </a:extLst>
          </p:cNvPr>
          <p:cNvSpPr>
            <a:spLocks xmlns:a="http://schemas.openxmlformats.org/drawingml/2006/main" noGrp="1"/>
          </p:cNvSpPr>
          <p:nvPr/>
        </p:nvSpPr>
        <p:spPr>
          <a:xfrm xmlns:a="http://schemas.openxmlformats.org/drawingml/2006/main">
            <a:off x="8734425" y="4524375"/>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Illustrative tolerance</a:t>
            </a:r>
          </a:p>
        </p:txBody>
      </p:sp>
      <p:sp>
        <p:nvSpPr>
          <p:cNvPr id="10" name="">
            <a:extLst xmlns:a="http://schemas.openxmlformats.org/drawingml/2006/main">
              <a:ext uri="{FF2B5EF4-FFF2-40B4-BE49-F238E27FC236}">
                <a16:creationId xmlns:a16="http://schemas.microsoft.com/office/drawing/2014/main" id="{F4961A88-803E-4723-B689-A86FADE261A2}"/>
              </a:ext>
            </a:extLst>
          </p:cNvPr>
          <p:cNvSpPr>
            <a:spLocks xmlns:a="http://schemas.openxmlformats.org/drawingml/2006/main" noGrp="1"/>
          </p:cNvSpPr>
          <p:nvPr/>
        </p:nvSpPr>
        <p:spPr>
          <a:xfrm xmlns:a="http://schemas.openxmlformats.org/drawingml/2006/main">
            <a:off x="8734425" y="4924425"/>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10% higher total ASD permits extra ASD of 0.458 × reference.</a:t>
            </a:r>
          </a:p>
        </p:txBody>
      </p:sp>
      <p:sp>
        <p:nvSpPr>
          <p:cNvPr id="11" name="">
            <a:extLst xmlns:a="http://schemas.openxmlformats.org/drawingml/2006/main">
              <a:ext uri="{FF2B5EF4-FFF2-40B4-BE49-F238E27FC236}">
                <a16:creationId xmlns:a16="http://schemas.microsoft.com/office/drawing/2014/main" id="{1700F614-C4C4-4742-BC3C-B98877C525D8}"/>
              </a:ext>
            </a:extLst>
          </p:cNvPr>
          <p:cNvSpPr>
            <a:spLocks xmlns:a="http://schemas.openxmlformats.org/drawingml/2006/main" noGrp="1"/>
          </p:cNvSpPr>
          <p:nvPr/>
        </p:nvSpPr>
        <p:spPr>
          <a:xfrm xmlns:a="http://schemas.openxmlformats.org/drawingml/2006/main">
            <a:off x="8734425" y="5876925"/>
            <a:ext cx="2924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7F86"/>
                </a:solidFill>
                <a:latin typeface="Aptos"/>
                <a:ea typeface="Aptos"/>
                <a:cs typeface="Aptos"/>
              </a:defRPr>
            </a:pPr>
            <a:r>
              <a:rPr sz="1425" b="1">
                <a:solidFill>
                  <a:srgbClr val="007F86"/>
                </a:solidFill>
                <a:latin typeface="Aptos"/>
                <a:ea typeface="Aptos"/>
                <a:cs typeface="Aptos"/>
              </a:rPr>
              <a:t>Next calculation: frequency noise versus arm mismatch.</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7b9ad9bde5b4a0a"/>
          <a:stretch xmlns:a="http://schemas.openxmlformats.org/drawingml/2006/main"/>
        </p:blipFill>
        <p:spPr>
          <a:xfrm xmlns:a="http://schemas.openxmlformats.org/drawingml/2006/main">
            <a:off x="333375" y="1466850"/>
            <a:ext cx="8191500" cy="4914900"/>
          </a:xfrm>
          <a:prstGeom xmlns:a="http://schemas.openxmlformats.org/drawingml/2006/main" prst="rect">
            <a:avLst/>
          </a:prstGeom>
        </p:spPr>
      </p:pic>
    </p:spTree>
    <p:extLst>
      <p:ext uri="{BB962C8B-B14F-4D97-AF65-F5344CB8AC3E}">
        <p14:creationId xmlns:p14="http://schemas.microsoft.com/office/powerpoint/2010/main" val="3370034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AF330A-7F13-48FA-AEFF-CBB2117B3283}"/>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iLILA weekly findings</a:t>
            </a:r>
          </a:p>
        </p:txBody>
      </p:sp>
      <p:sp>
        <p:nvSpPr>
          <p:cNvPr id="2" name="">
            <a:extLst xmlns:a="http://schemas.openxmlformats.org/drawingml/2006/main">
              <a:ext uri="{FF2B5EF4-FFF2-40B4-BE49-F238E27FC236}">
                <a16:creationId xmlns:a16="http://schemas.microsoft.com/office/drawing/2014/main" id="{2D233720-5797-464A-99D2-AD2582A536B7}"/>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1 October 2026    Kaylah McGowan    Analytic calculation review</a:t>
            </a:r>
          </a:p>
        </p:txBody>
      </p:sp>
      <p:sp>
        <p:nvSpPr>
          <p:cNvPr id="3" name="">
            <a:extLst xmlns:a="http://schemas.openxmlformats.org/drawingml/2006/main">
              <a:ext uri="{FF2B5EF4-FFF2-40B4-BE49-F238E27FC236}">
                <a16:creationId xmlns:a16="http://schemas.microsoft.com/office/drawing/2014/main" id="{DF158533-4DAF-467A-AD38-851435C7320D}"/>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824BC896-0A54-4D4D-9915-5C790C44F35B}"/>
              </a:ext>
            </a:extLst>
          </p:cNvPr>
          <p:cNvSpPr>
            <a:spLocks xmlns:a="http://schemas.openxmlformats.org/drawingml/2006/main" noGrp="1"/>
          </p:cNvSpPr>
          <p:nvPr/>
        </p:nvSpPr>
        <p:spPr>
          <a:xfrm xmlns:a="http://schemas.openxmlformats.org/drawingml/2006/main">
            <a:off x="542925" y="16478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Reference budget</a:t>
            </a:r>
          </a:p>
        </p:txBody>
      </p:sp>
      <p:sp>
        <p:nvSpPr>
          <p:cNvPr id="5" name="">
            <a:extLst xmlns:a="http://schemas.openxmlformats.org/drawingml/2006/main">
              <a:ext uri="{FF2B5EF4-FFF2-40B4-BE49-F238E27FC236}">
                <a16:creationId xmlns:a16="http://schemas.microsoft.com/office/drawing/2014/main" id="{82460D1D-7B13-45F7-8044-583551B15D0E}"/>
              </a:ext>
            </a:extLst>
          </p:cNvPr>
          <p:cNvSpPr>
            <a:spLocks xmlns:a="http://schemas.openxmlformats.org/drawingml/2006/main" noGrp="1"/>
          </p:cNvSpPr>
          <p:nvPr/>
        </p:nvSpPr>
        <p:spPr>
          <a:xfrm xmlns:a="http://schemas.openxmlformats.org/drawingml/2006/main">
            <a:off x="542925" y="2095500"/>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At 1 mHz, the optimistic reference is 1.10 × 10⁻¹⁵ m/√Hz, about 10% above the preliminary flat target.</a:t>
            </a:r>
          </a:p>
        </p:txBody>
      </p:sp>
      <p:sp>
        <p:nvSpPr>
          <p:cNvPr id="6" name="">
            <a:extLst xmlns:a="http://schemas.openxmlformats.org/drawingml/2006/main">
              <a:ext uri="{FF2B5EF4-FFF2-40B4-BE49-F238E27FC236}">
                <a16:creationId xmlns:a16="http://schemas.microsoft.com/office/drawing/2014/main" id="{B9EB2A74-1CE9-496C-B009-B562BEA7B9A1}"/>
              </a:ext>
            </a:extLst>
          </p:cNvPr>
          <p:cNvSpPr>
            <a:spLocks xmlns:a="http://schemas.openxmlformats.org/drawingml/2006/main" noGrp="1"/>
          </p:cNvSpPr>
          <p:nvPr/>
        </p:nvSpPr>
        <p:spPr>
          <a:xfrm xmlns:a="http://schemas.openxmlformats.org/drawingml/2006/main">
            <a:off x="6486525" y="16478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Laser frequency noise</a:t>
            </a:r>
          </a:p>
        </p:txBody>
      </p:sp>
      <p:sp>
        <p:nvSpPr>
          <p:cNvPr id="7" name="">
            <a:extLst xmlns:a="http://schemas.openxmlformats.org/drawingml/2006/main">
              <a:ext uri="{FF2B5EF4-FFF2-40B4-BE49-F238E27FC236}">
                <a16:creationId xmlns:a16="http://schemas.microsoft.com/office/drawing/2014/main" id="{E9B21F4B-649D-4AD5-938B-C8E050AE8206}"/>
              </a:ext>
            </a:extLst>
          </p:cNvPr>
          <p:cNvSpPr>
            <a:spLocks xmlns:a="http://schemas.openxmlformats.org/drawingml/2006/main" noGrp="1"/>
          </p:cNvSpPr>
          <p:nvPr/>
        </p:nvSpPr>
        <p:spPr>
          <a:xfrm xmlns:a="http://schemas.openxmlformats.org/drawingml/2006/main">
            <a:off x="6486525" y="2095500"/>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Arm mismatch sets the frequency-noise coupling. We calculated conditional ceilings across 1–100 mHz.</a:t>
            </a:r>
          </a:p>
        </p:txBody>
      </p:sp>
      <p:sp>
        <p:nvSpPr>
          <p:cNvPr id="8" name="">
            <a:extLst xmlns:a="http://schemas.openxmlformats.org/drawingml/2006/main">
              <a:ext uri="{FF2B5EF4-FFF2-40B4-BE49-F238E27FC236}">
                <a16:creationId xmlns:a16="http://schemas.microsoft.com/office/drawing/2014/main" id="{E8CB9AD6-9FB6-4123-B222-92A01B401F9C}"/>
              </a:ext>
            </a:extLst>
          </p:cNvPr>
          <p:cNvSpPr>
            <a:spLocks xmlns:a="http://schemas.openxmlformats.org/drawingml/2006/main" noGrp="1"/>
          </p:cNvSpPr>
          <p:nvPr/>
        </p:nvSpPr>
        <p:spPr>
          <a:xfrm xmlns:a="http://schemas.openxmlformats.org/drawingml/2006/main">
            <a:off x="542925" y="38195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Readout alternatives</a:t>
            </a:r>
          </a:p>
        </p:txBody>
      </p:sp>
      <p:sp>
        <p:nvSpPr>
          <p:cNvPr id="9" name="">
            <a:extLst xmlns:a="http://schemas.openxmlformats.org/drawingml/2006/main">
              <a:ext uri="{FF2B5EF4-FFF2-40B4-BE49-F238E27FC236}">
                <a16:creationId xmlns:a16="http://schemas.microsoft.com/office/drawing/2014/main" id="{F0822A15-5449-4123-BB1B-99CD79F74143}"/>
              </a:ext>
            </a:extLst>
          </p:cNvPr>
          <p:cNvSpPr>
            <a:spLocks xmlns:a="http://schemas.openxmlformats.org/drawingml/2006/main" noGrp="1"/>
          </p:cNvSpPr>
          <p:nvPr/>
        </p:nvSpPr>
        <p:spPr>
          <a:xfrm xmlns:a="http://schemas.openxmlformats.org/drawingml/2006/main">
            <a:off x="542925" y="4267200"/>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Direct, balanced homodyne and single-tone heterodyne remain open as hypothetical designs.</a:t>
            </a:r>
          </a:p>
        </p:txBody>
      </p:sp>
      <p:sp>
        <p:nvSpPr>
          <p:cNvPr id="10" name="">
            <a:extLst xmlns:a="http://schemas.openxmlformats.org/drawingml/2006/main">
              <a:ext uri="{FF2B5EF4-FFF2-40B4-BE49-F238E27FC236}">
                <a16:creationId xmlns:a16="http://schemas.microsoft.com/office/drawing/2014/main" id="{BE0F12F2-572F-4C1F-94F7-2DB3D050CA72}"/>
              </a:ext>
            </a:extLst>
          </p:cNvPr>
          <p:cNvSpPr>
            <a:spLocks xmlns:a="http://schemas.openxmlformats.org/drawingml/2006/main" noGrp="1"/>
          </p:cNvSpPr>
          <p:nvPr/>
        </p:nvSpPr>
        <p:spPr>
          <a:xfrm xmlns:a="http://schemas.openxmlformats.org/drawingml/2006/main">
            <a:off x="6486525" y="38195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Current limits</a:t>
            </a:r>
          </a:p>
        </p:txBody>
      </p:sp>
      <p:sp>
        <p:nvSpPr>
          <p:cNvPr id="11" name="">
            <a:extLst xmlns:a="http://schemas.openxmlformats.org/drawingml/2006/main">
              <a:ext uri="{FF2B5EF4-FFF2-40B4-BE49-F238E27FC236}">
                <a16:creationId xmlns:a16="http://schemas.microsoft.com/office/drawing/2014/main" id="{58B04D9C-AF53-418D-8236-E5E045F15456}"/>
              </a:ext>
            </a:extLst>
          </p:cNvPr>
          <p:cNvSpPr>
            <a:spLocks xmlns:a="http://schemas.openxmlformats.org/drawingml/2006/main" noGrp="1"/>
          </p:cNvSpPr>
          <p:nvPr/>
        </p:nvSpPr>
        <p:spPr>
          <a:xfrm xmlns:a="http://schemas.openxmlformats.org/drawingml/2006/main">
            <a:off x="6486525" y="4267200"/>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Finesse validation, detector measurements, lunar response and science SNR remain pending.</a:t>
            </a:r>
          </a:p>
        </p:txBody>
      </p:sp>
      <p:sp>
        <p:nvSpPr>
          <p:cNvPr id="13" name="">
            <a:extLst xmlns:a="http://schemas.openxmlformats.org/drawingml/2006/main">
              <a:ext uri="{FF2B5EF4-FFF2-40B4-BE49-F238E27FC236}">
                <a16:creationId xmlns:a16="http://schemas.microsoft.com/office/drawing/2014/main" id="{66DF6048-9EB3-4FAF-84C0-B24E375ECA3C}"/>
              </a:ext>
            </a:extLst>
          </p:cNvPr>
          <p:cNvSpPr>
            <a:spLocks xmlns:a="http://schemas.openxmlformats.org/drawingml/2006/main" noGrp="1"/>
          </p:cNvSpPr>
          <p:nvPr/>
        </p:nvSpPr>
        <p:spPr>
          <a:xfrm xmlns:a="http://schemas.openxmlformats.org/drawingml/2006/main">
            <a:off x="638175" y="6010275"/>
            <a:ext cx="10620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07F86"/>
                </a:solidFill>
                <a:latin typeface="Aptos"/>
                <a:ea typeface="Aptos"/>
                <a:cs typeface="Aptos"/>
              </a:defRPr>
            </a:pPr>
            <a:r>
              <a:rPr sz="1500" b="1">
                <a:solidFill>
                  <a:srgbClr val="007F86"/>
                </a:solidFill>
                <a:latin typeface="Aptos"/>
                <a:ea typeface="Aptos"/>
                <a:cs typeface="Aptos"/>
              </a:rPr>
              <a:t>The following plots retain separate assumptions for the 1064 nm lunar reference and 1550 nm bench example.</a:t>
            </a:r>
          </a:p>
        </p:txBody>
      </p:sp>
    </p:spTree>
    <p:extLst>
      <p:ext uri="{BB962C8B-B14F-4D97-AF65-F5344CB8AC3E}">
        <p14:creationId xmlns:p14="http://schemas.microsoft.com/office/powerpoint/2010/main" val="3308839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8AB21F-69CA-4E2E-B7D7-A81206503A7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Reference noise near the 1 mHz target</a:t>
            </a:r>
          </a:p>
        </p:txBody>
      </p:sp>
      <p:sp>
        <p:nvSpPr>
          <p:cNvPr id="2" name="">
            <a:extLst xmlns:a="http://schemas.openxmlformats.org/drawingml/2006/main">
              <a:ext uri="{FF2B5EF4-FFF2-40B4-BE49-F238E27FC236}">
                <a16:creationId xmlns:a16="http://schemas.microsoft.com/office/drawing/2014/main" id="{83898337-270D-495E-9508-00A371AA075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D7078"/>
                </a:solidFill>
                <a:latin typeface="Aptos"/>
                <a:ea typeface="Aptos"/>
                <a:cs typeface="Aptos"/>
              </a:defRPr>
            </a:pPr>
            <a:r>
              <a:rPr sz="1500" b="0">
                <a:solidFill>
                  <a:srgbClr val="5D7078"/>
                </a:solidFill>
                <a:latin typeface="Aptos"/>
                <a:ea typeface="Aptos"/>
                <a:cs typeface="Aptos"/>
              </a:rPr>
              <a:t>1 October review    1 km, 1064 nm, 300 K, effective detected power ηP = 0.5 W</a:t>
            </a:r>
          </a:p>
        </p:txBody>
      </p:sp>
      <p:sp>
        <p:nvSpPr>
          <p:cNvPr id="3" name="">
            <a:extLst xmlns:a="http://schemas.openxmlformats.org/drawingml/2006/main">
              <a:ext uri="{FF2B5EF4-FFF2-40B4-BE49-F238E27FC236}">
                <a16:creationId xmlns:a16="http://schemas.microsoft.com/office/drawing/2014/main" id="{E269B9BD-0045-46D8-BF86-4E8DE785F892}"/>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20</a:t>
            </a:r>
          </a:p>
        </p:txBody>
      </p:sp>
      <p:sp>
        <p:nvSpPr>
          <p:cNvPr id="4" name="">
            <a:extLst xmlns:a="http://schemas.openxmlformats.org/drawingml/2006/main">
              <a:ext uri="{FF2B5EF4-FFF2-40B4-BE49-F238E27FC236}">
                <a16:creationId xmlns:a16="http://schemas.microsoft.com/office/drawing/2014/main" id="{B6E28D0E-F214-42D8-AD0B-C09900826F19}"/>
              </a:ext>
            </a:extLst>
          </p:cNvPr>
          <p:cNvSpPr>
            <a:spLocks xmlns:a="http://schemas.openxmlformats.org/drawingml/2006/main" noGrp="1"/>
          </p:cNvSpPr>
          <p:nvPr/>
        </p:nvSpPr>
        <p:spPr>
          <a:xfrm xmlns:a="http://schemas.openxmlformats.org/drawingml/2006/main">
            <a:off x="533400" y="1695450"/>
            <a:ext cx="7762875" cy="37338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a:r>
          </a:p>
        </p:txBody>
      </p:sp>
      <p:sp>
        <p:nvSpPr>
          <p:cNvPr id="5" name="">
            <a:extLst xmlns:a="http://schemas.openxmlformats.org/drawingml/2006/main">
              <a:ext uri="{FF2B5EF4-FFF2-40B4-BE49-F238E27FC236}">
                <a16:creationId xmlns:a16="http://schemas.microsoft.com/office/drawing/2014/main" id="{00292AF2-DF74-4DFA-B48E-CAD3CDD385EF}"/>
              </a:ext>
            </a:extLst>
          </p:cNvPr>
          <p:cNvSpPr>
            <a:spLocks xmlns:a="http://schemas.openxmlformats.org/drawingml/2006/main" noGrp="1"/>
          </p:cNvSpPr>
          <p:nvPr/>
        </p:nvSpPr>
        <p:spPr>
          <a:xfrm xmlns:a="http://schemas.openxmlformats.org/drawingml/2006/main">
            <a:off x="8734425" y="177165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At 1 mHz</a:t>
            </a:r>
          </a:p>
        </p:txBody>
      </p:sp>
      <p:sp>
        <p:nvSpPr>
          <p:cNvPr id="6" name="">
            <a:extLst xmlns:a="http://schemas.openxmlformats.org/drawingml/2006/main">
              <a:ext uri="{FF2B5EF4-FFF2-40B4-BE49-F238E27FC236}">
                <a16:creationId xmlns:a16="http://schemas.microsoft.com/office/drawing/2014/main" id="{EC2B7509-9A9A-41AF-987C-F7A4DCE10BAE}"/>
              </a:ext>
            </a:extLst>
          </p:cNvPr>
          <p:cNvSpPr>
            <a:spLocks xmlns:a="http://schemas.openxmlformats.org/drawingml/2006/main" noGrp="1"/>
          </p:cNvSpPr>
          <p:nvPr/>
        </p:nvSpPr>
        <p:spPr>
          <a:xfrm xmlns:a="http://schemas.openxmlformats.org/drawingml/2006/main">
            <a:off x="8734425" y="2171700"/>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1.10 × 10⁻¹⁵ m/√Hz</a:t>
            </a:r>
          </a:p>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Reference sum</a:t>
            </a:r>
          </a:p>
        </p:txBody>
      </p:sp>
      <p:sp>
        <p:nvSpPr>
          <p:cNvPr id="7" name="">
            <a:extLst xmlns:a="http://schemas.openxmlformats.org/drawingml/2006/main">
              <a:ext uri="{FF2B5EF4-FFF2-40B4-BE49-F238E27FC236}">
                <a16:creationId xmlns:a16="http://schemas.microsoft.com/office/drawing/2014/main" id="{F4CDB2CA-C3E9-4105-A5F5-06DC0A9A6F1E}"/>
              </a:ext>
            </a:extLst>
          </p:cNvPr>
          <p:cNvSpPr>
            <a:spLocks xmlns:a="http://schemas.openxmlformats.org/drawingml/2006/main" noGrp="1"/>
          </p:cNvSpPr>
          <p:nvPr/>
        </p:nvSpPr>
        <p:spPr>
          <a:xfrm xmlns:a="http://schemas.openxmlformats.org/drawingml/2006/main">
            <a:off x="8734425" y="316230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Preliminary target</a:t>
            </a:r>
          </a:p>
        </p:txBody>
      </p:sp>
      <p:sp>
        <p:nvSpPr>
          <p:cNvPr id="8" name="">
            <a:extLst xmlns:a="http://schemas.openxmlformats.org/drawingml/2006/main">
              <a:ext uri="{FF2B5EF4-FFF2-40B4-BE49-F238E27FC236}">
                <a16:creationId xmlns:a16="http://schemas.microsoft.com/office/drawing/2014/main" id="{D84C82D2-9E92-45CF-8D58-918C9C4CAB15}"/>
              </a:ext>
            </a:extLst>
          </p:cNvPr>
          <p:cNvSpPr>
            <a:spLocks xmlns:a="http://schemas.openxmlformats.org/drawingml/2006/main" noGrp="1"/>
          </p:cNvSpPr>
          <p:nvPr/>
        </p:nvSpPr>
        <p:spPr>
          <a:xfrm xmlns:a="http://schemas.openxmlformats.org/drawingml/2006/main">
            <a:off x="8734425" y="3562350"/>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1.00 × 10⁻¹⁵ m/√Hz</a:t>
            </a:r>
          </a:p>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Reference ≈10% above</a:t>
            </a:r>
          </a:p>
        </p:txBody>
      </p:sp>
      <p:sp>
        <p:nvSpPr>
          <p:cNvPr id="9" name="">
            <a:extLst xmlns:a="http://schemas.openxmlformats.org/drawingml/2006/main">
              <a:ext uri="{FF2B5EF4-FFF2-40B4-BE49-F238E27FC236}">
                <a16:creationId xmlns:a16="http://schemas.microsoft.com/office/drawing/2014/main" id="{FCA83083-711D-4C65-84B9-94974ABDB313}"/>
              </a:ext>
            </a:extLst>
          </p:cNvPr>
          <p:cNvSpPr>
            <a:spLocks xmlns:a="http://schemas.openxmlformats.org/drawingml/2006/main" noGrp="1"/>
          </p:cNvSpPr>
          <p:nvPr/>
        </p:nvSpPr>
        <p:spPr>
          <a:xfrm xmlns:a="http://schemas.openxmlformats.org/drawingml/2006/main">
            <a:off x="8734425" y="4524375"/>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Reference scope</a:t>
            </a:r>
          </a:p>
        </p:txBody>
      </p:sp>
      <p:sp>
        <p:nvSpPr>
          <p:cNvPr id="10" name="">
            <a:extLst xmlns:a="http://schemas.openxmlformats.org/drawingml/2006/main">
              <a:ext uri="{FF2B5EF4-FFF2-40B4-BE49-F238E27FC236}">
                <a16:creationId xmlns:a16="http://schemas.microsoft.com/office/drawing/2014/main" id="{F4961A88-803E-4723-B689-A86FADE261A2}"/>
              </a:ext>
            </a:extLst>
          </p:cNvPr>
          <p:cNvSpPr>
            <a:spLocks xmlns:a="http://schemas.openxmlformats.org/drawingml/2006/main" noGrp="1"/>
          </p:cNvSpPr>
          <p:nvPr/>
        </p:nvSpPr>
        <p:spPr>
          <a:xfrm xmlns:a="http://schemas.openxmlformats.org/drawingml/2006/main">
            <a:off x="8734425" y="4924425"/>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Thermal, shot and dust</a:t>
            </a:r>
          </a:p>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Optimistic thermal case</a:t>
            </a:r>
          </a:p>
        </p:txBody>
      </p:sp>
      <p:sp>
        <p:nvSpPr>
          <p:cNvPr id="11" name="">
            <a:extLst xmlns:a="http://schemas.openxmlformats.org/drawingml/2006/main">
              <a:ext uri="{FF2B5EF4-FFF2-40B4-BE49-F238E27FC236}">
                <a16:creationId xmlns:a16="http://schemas.microsoft.com/office/drawing/2014/main" id="{1700F614-C4C4-4742-BC3C-B98877C525D8}"/>
              </a:ext>
            </a:extLst>
          </p:cNvPr>
          <p:cNvSpPr>
            <a:spLocks xmlns:a="http://schemas.openxmlformats.org/drawingml/2006/main" noGrp="1"/>
          </p:cNvSpPr>
          <p:nvPr/>
        </p:nvSpPr>
        <p:spPr>
          <a:xfrm xmlns:a="http://schemas.openxmlformats.org/drawingml/2006/main">
            <a:off x="8734425" y="5876925"/>
            <a:ext cx="2924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7F86"/>
                </a:solidFill>
                <a:latin typeface="Aptos"/>
                <a:ea typeface="Aptos"/>
                <a:cs typeface="Aptos"/>
              </a:defRPr>
            </a:pPr>
            <a:r>
              <a:rPr sz="1425" b="1">
                <a:solidFill>
                  <a:srgbClr val="007F86"/>
                </a:solidFill>
                <a:latin typeface="Aptos"/>
                <a:ea typeface="Aptos"/>
                <a:cs typeface="Aptos"/>
              </a:rPr>
              <a:t>Seismic and technical noise remain unmodeled.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17f6e45fc57453c"/>
          <a:stretch xmlns:a="http://schemas.openxmlformats.org/drawingml/2006/main"/>
        </p:blipFill>
        <p:spPr>
          <a:xfrm xmlns:a="http://schemas.openxmlformats.org/drawingml/2006/main">
            <a:off x="333375" y="1466850"/>
            <a:ext cx="8191500" cy="4914900"/>
          </a:xfrm>
          <a:prstGeom xmlns:a="http://schemas.openxmlformats.org/drawingml/2006/main" prst="rect">
            <a:avLst/>
          </a:prstGeom>
        </p:spPr>
      </p:pic>
    </p:spTree>
    <p:extLst>
      <p:ext uri="{BB962C8B-B14F-4D97-AF65-F5344CB8AC3E}">
        <p14:creationId xmlns:p14="http://schemas.microsoft.com/office/powerpoint/2010/main" val="3370034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8AB21F-69CA-4E2E-B7D7-A81206503A7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Allowance for additional independent noise</a:t>
            </a:r>
          </a:p>
        </p:txBody>
      </p:sp>
      <p:sp>
        <p:nvSpPr>
          <p:cNvPr id="2" name="">
            <a:extLst xmlns:a="http://schemas.openxmlformats.org/drawingml/2006/main">
              <a:ext uri="{FF2B5EF4-FFF2-40B4-BE49-F238E27FC236}">
                <a16:creationId xmlns:a16="http://schemas.microsoft.com/office/drawing/2014/main" id="{83898337-270D-495E-9508-00A371AA075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D7078"/>
                </a:solidFill>
                <a:latin typeface="Aptos"/>
                <a:ea typeface="Aptos"/>
                <a:cs typeface="Aptos"/>
              </a:defRPr>
            </a:pPr>
            <a:r>
              <a:rPr sz="1500" b="0">
                <a:solidFill>
                  <a:srgbClr val="5D7078"/>
                </a:solidFill>
                <a:latin typeface="Aptos"/>
                <a:ea typeface="Aptos"/>
                <a:cs typeface="Aptos"/>
              </a:rPr>
              <a:t>1 October review    Remaining PSD = target PSD − reference PSD</a:t>
            </a:r>
          </a:p>
        </p:txBody>
      </p:sp>
      <p:sp>
        <p:nvSpPr>
          <p:cNvPr id="3" name="">
            <a:extLst xmlns:a="http://schemas.openxmlformats.org/drawingml/2006/main">
              <a:ext uri="{FF2B5EF4-FFF2-40B4-BE49-F238E27FC236}">
                <a16:creationId xmlns:a16="http://schemas.microsoft.com/office/drawing/2014/main" id="{E269B9BD-0045-46D8-BF86-4E8DE785F892}"/>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B6E28D0E-F214-42D8-AD0B-C09900826F19}"/>
              </a:ext>
            </a:extLst>
          </p:cNvPr>
          <p:cNvSpPr>
            <a:spLocks xmlns:a="http://schemas.openxmlformats.org/drawingml/2006/main" noGrp="1"/>
          </p:cNvSpPr>
          <p:nvPr/>
        </p:nvSpPr>
        <p:spPr>
          <a:xfrm xmlns:a="http://schemas.openxmlformats.org/drawingml/2006/main">
            <a:off x="533400" y="1695450"/>
            <a:ext cx="7762875" cy="37338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a:r>
          </a:p>
        </p:txBody>
      </p:sp>
      <p:sp>
        <p:nvSpPr>
          <p:cNvPr id="5" name="">
            <a:extLst xmlns:a="http://schemas.openxmlformats.org/drawingml/2006/main">
              <a:ext uri="{FF2B5EF4-FFF2-40B4-BE49-F238E27FC236}">
                <a16:creationId xmlns:a16="http://schemas.microsoft.com/office/drawing/2014/main" id="{00292AF2-DF74-4DFA-B48E-CAD3CDD385EF}"/>
              </a:ext>
            </a:extLst>
          </p:cNvPr>
          <p:cNvSpPr>
            <a:spLocks xmlns:a="http://schemas.openxmlformats.org/drawingml/2006/main" noGrp="1"/>
          </p:cNvSpPr>
          <p:nvPr/>
        </p:nvSpPr>
        <p:spPr>
          <a:xfrm xmlns:a="http://schemas.openxmlformats.org/drawingml/2006/main">
            <a:off x="8734425" y="177165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Flat target boundary</a:t>
            </a:r>
          </a:p>
        </p:txBody>
      </p:sp>
      <p:sp>
        <p:nvSpPr>
          <p:cNvPr id="6" name="">
            <a:extLst xmlns:a="http://schemas.openxmlformats.org/drawingml/2006/main">
              <a:ext uri="{FF2B5EF4-FFF2-40B4-BE49-F238E27FC236}">
                <a16:creationId xmlns:a16="http://schemas.microsoft.com/office/drawing/2014/main" id="{EC2B7509-9A9A-41AF-987C-F7A4DCE10BAE}"/>
              </a:ext>
            </a:extLst>
          </p:cNvPr>
          <p:cNvSpPr>
            <a:spLocks xmlns:a="http://schemas.openxmlformats.org/drawingml/2006/main" noGrp="1"/>
          </p:cNvSpPr>
          <p:nvPr/>
        </p:nvSpPr>
        <p:spPr>
          <a:xfrm xmlns:a="http://schemas.openxmlformats.org/drawingml/2006/main">
            <a:off x="8734425" y="2171700"/>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No positive allowance</a:t>
            </a:r>
          </a:p>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below ≈1.213 mHz</a:t>
            </a:r>
          </a:p>
        </p:txBody>
      </p:sp>
      <p:sp>
        <p:nvSpPr>
          <p:cNvPr id="7" name="">
            <a:extLst xmlns:a="http://schemas.openxmlformats.org/drawingml/2006/main">
              <a:ext uri="{FF2B5EF4-FFF2-40B4-BE49-F238E27FC236}">
                <a16:creationId xmlns:a16="http://schemas.microsoft.com/office/drawing/2014/main" id="{F4CDB2CA-C3E9-4105-A5F5-06DC0A9A6F1E}"/>
              </a:ext>
            </a:extLst>
          </p:cNvPr>
          <p:cNvSpPr>
            <a:spLocks xmlns:a="http://schemas.openxmlformats.org/drawingml/2006/main" noGrp="1"/>
          </p:cNvSpPr>
          <p:nvPr/>
        </p:nvSpPr>
        <p:spPr>
          <a:xfrm xmlns:a="http://schemas.openxmlformats.org/drawingml/2006/main">
            <a:off x="8734425" y="316230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Shared allowance</a:t>
            </a:r>
          </a:p>
        </p:txBody>
      </p:sp>
      <p:sp>
        <p:nvSpPr>
          <p:cNvPr id="8" name="">
            <a:extLst xmlns:a="http://schemas.openxmlformats.org/drawingml/2006/main">
              <a:ext uri="{FF2B5EF4-FFF2-40B4-BE49-F238E27FC236}">
                <a16:creationId xmlns:a16="http://schemas.microsoft.com/office/drawing/2014/main" id="{D84C82D2-9E92-45CF-8D58-918C9C4CAB15}"/>
              </a:ext>
            </a:extLst>
          </p:cNvPr>
          <p:cNvSpPr>
            <a:spLocks xmlns:a="http://schemas.openxmlformats.org/drawingml/2006/main" noGrp="1"/>
          </p:cNvSpPr>
          <p:nvPr/>
        </p:nvSpPr>
        <p:spPr>
          <a:xfrm xmlns:a="http://schemas.openxmlformats.org/drawingml/2006/main">
            <a:off x="8734425" y="3562350"/>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Seismic, laser and all other omitted terms share the remainder.</a:t>
            </a:r>
          </a:p>
        </p:txBody>
      </p:sp>
      <p:sp>
        <p:nvSpPr>
          <p:cNvPr id="9" name="">
            <a:extLst xmlns:a="http://schemas.openxmlformats.org/drawingml/2006/main">
              <a:ext uri="{FF2B5EF4-FFF2-40B4-BE49-F238E27FC236}">
                <a16:creationId xmlns:a16="http://schemas.microsoft.com/office/drawing/2014/main" id="{FCA83083-711D-4C65-84B9-94974ABDB313}"/>
              </a:ext>
            </a:extLst>
          </p:cNvPr>
          <p:cNvSpPr>
            <a:spLocks xmlns:a="http://schemas.openxmlformats.org/drawingml/2006/main" noGrp="1"/>
          </p:cNvSpPr>
          <p:nvPr/>
        </p:nvSpPr>
        <p:spPr>
          <a:xfrm xmlns:a="http://schemas.openxmlformats.org/drawingml/2006/main">
            <a:off x="8734425" y="4524375"/>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Illustrative tolerance</a:t>
            </a:r>
          </a:p>
        </p:txBody>
      </p:sp>
      <p:sp>
        <p:nvSpPr>
          <p:cNvPr id="10" name="">
            <a:extLst xmlns:a="http://schemas.openxmlformats.org/drawingml/2006/main">
              <a:ext uri="{FF2B5EF4-FFF2-40B4-BE49-F238E27FC236}">
                <a16:creationId xmlns:a16="http://schemas.microsoft.com/office/drawing/2014/main" id="{F4961A88-803E-4723-B689-A86FADE261A2}"/>
              </a:ext>
            </a:extLst>
          </p:cNvPr>
          <p:cNvSpPr>
            <a:spLocks xmlns:a="http://schemas.openxmlformats.org/drawingml/2006/main" noGrp="1"/>
          </p:cNvSpPr>
          <p:nvPr/>
        </p:nvSpPr>
        <p:spPr>
          <a:xfrm xmlns:a="http://schemas.openxmlformats.org/drawingml/2006/main">
            <a:off x="8734425" y="4924425"/>
            <a:ext cx="2924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7343E"/>
                </a:solidFill>
                <a:latin typeface="Aptos"/>
                <a:ea typeface="Aptos"/>
                <a:cs typeface="Aptos"/>
              </a:defRPr>
            </a:pPr>
            <a:r>
              <a:rPr sz="1800" b="0">
                <a:solidFill>
                  <a:srgbClr val="17343E"/>
                </a:solidFill>
                <a:latin typeface="Aptos"/>
                <a:ea typeface="Aptos"/>
                <a:cs typeface="Aptos"/>
              </a:rPr>
              <a:t>10% higher total ASD permits extra ASD of 0.458 × reference.</a:t>
            </a:r>
          </a:p>
        </p:txBody>
      </p:sp>
      <p:sp>
        <p:nvSpPr>
          <p:cNvPr id="11" name="">
            <a:extLst xmlns:a="http://schemas.openxmlformats.org/drawingml/2006/main">
              <a:ext uri="{FF2B5EF4-FFF2-40B4-BE49-F238E27FC236}">
                <a16:creationId xmlns:a16="http://schemas.microsoft.com/office/drawing/2014/main" id="{1700F614-C4C4-4742-BC3C-B98877C525D8}"/>
              </a:ext>
            </a:extLst>
          </p:cNvPr>
          <p:cNvSpPr>
            <a:spLocks xmlns:a="http://schemas.openxmlformats.org/drawingml/2006/main" noGrp="1"/>
          </p:cNvSpPr>
          <p:nvPr/>
        </p:nvSpPr>
        <p:spPr>
          <a:xfrm xmlns:a="http://schemas.openxmlformats.org/drawingml/2006/main">
            <a:off x="8734425" y="5876925"/>
            <a:ext cx="2924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7F86"/>
                </a:solidFill>
                <a:latin typeface="Aptos"/>
                <a:ea typeface="Aptos"/>
                <a:cs typeface="Aptos"/>
              </a:defRPr>
            </a:pPr>
            <a:r>
              <a:rPr sz="1425" b="1">
                <a:solidFill>
                  <a:srgbClr val="007F86"/>
                </a:solidFill>
                <a:latin typeface="Aptos"/>
                <a:ea typeface="Aptos"/>
                <a:cs typeface="Aptos"/>
              </a:rPr>
              <a:t>All omitted independent terms share this allowance.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78887e1c68e4848"/>
          <a:stretch xmlns:a="http://schemas.openxmlformats.org/drawingml/2006/main"/>
        </p:blipFill>
        <p:spPr>
          <a:xfrm xmlns:a="http://schemas.openxmlformats.org/drawingml/2006/main">
            <a:off x="333375" y="1466850"/>
            <a:ext cx="8191500" cy="4914900"/>
          </a:xfrm>
          <a:prstGeom xmlns:a="http://schemas.openxmlformats.org/drawingml/2006/main" prst="rect">
            <a:avLst/>
          </a:prstGeom>
        </p:spPr>
      </p:pic>
    </p:spTree>
    <p:extLst>
      <p:ext uri="{BB962C8B-B14F-4D97-AF65-F5344CB8AC3E}">
        <p14:creationId xmlns:p14="http://schemas.microsoft.com/office/powerpoint/2010/main" val="33700348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8AB21F-69CA-4E2E-B7D7-A81206503A7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Laser frequency noise and arm mismatch</a:t>
            </a:r>
          </a:p>
        </p:txBody>
      </p:sp>
      <p:sp>
        <p:nvSpPr>
          <p:cNvPr id="2" name="">
            <a:extLst xmlns:a="http://schemas.openxmlformats.org/drawingml/2006/main">
              <a:ext uri="{FF2B5EF4-FFF2-40B4-BE49-F238E27FC236}">
                <a16:creationId xmlns:a16="http://schemas.microsoft.com/office/drawing/2014/main" id="{83898337-270D-495E-9508-00A371AA075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D7078"/>
                </a:solidFill>
                <a:latin typeface="Aptos"/>
                <a:ea typeface="Aptos"/>
                <a:cs typeface="Aptos"/>
              </a:defRPr>
            </a:pPr>
            <a:r>
              <a:rPr sz="1500" b="0">
                <a:solidFill>
                  <a:srgbClr val="5D7078"/>
                </a:solidFill>
                <a:latin typeface="Aptos"/>
                <a:ea typeface="Aptos"/>
                <a:cs typeface="Aptos"/>
              </a:rPr>
              <a:t>1 October 2026    Ideal vacuum Michelson    Hₓν = ΔL / ν₀</a:t>
            </a:r>
          </a:p>
        </p:txBody>
      </p:sp>
      <p:sp>
        <p:nvSpPr>
          <p:cNvPr id="3" name="">
            <a:extLst xmlns:a="http://schemas.openxmlformats.org/drawingml/2006/main">
              <a:ext uri="{FF2B5EF4-FFF2-40B4-BE49-F238E27FC236}">
                <a16:creationId xmlns:a16="http://schemas.microsoft.com/office/drawing/2014/main" id="{E269B9BD-0045-46D8-BF86-4E8DE785F892}"/>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B6E28D0E-F214-42D8-AD0B-C09900826F19}"/>
              </a:ext>
            </a:extLst>
          </p:cNvPr>
          <p:cNvSpPr>
            <a:spLocks xmlns:a="http://schemas.openxmlformats.org/drawingml/2006/main" noGrp="1"/>
          </p:cNvSpPr>
          <p:nvPr/>
        </p:nvSpPr>
        <p:spPr>
          <a:xfrm xmlns:a="http://schemas.openxmlformats.org/drawingml/2006/main">
            <a:off x="1905000" y="2000250"/>
            <a:ext cx="6667500" cy="30480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a:r>
          </a:p>
        </p:txBody>
      </p:sp>
      <p:sp>
        <p:nvSpPr>
          <p:cNvPr id="5" name="">
            <a:extLst xmlns:a="http://schemas.openxmlformats.org/drawingml/2006/main">
              <a:ext uri="{FF2B5EF4-FFF2-40B4-BE49-F238E27FC236}">
                <a16:creationId xmlns:a16="http://schemas.microsoft.com/office/drawing/2014/main" id="{00292AF2-DF74-4DFA-B48E-CAD3CDD385EF}"/>
              </a:ext>
            </a:extLst>
          </p:cNvPr>
          <p:cNvSpPr>
            <a:spLocks xmlns:a="http://schemas.openxmlformats.org/drawingml/2006/main" noGrp="1"/>
          </p:cNvSpPr>
          <p:nvPr/>
        </p:nvSpPr>
        <p:spPr>
          <a:xfrm xmlns:a="http://schemas.openxmlformats.org/drawingml/2006/main">
            <a:off x="8677275" y="17526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6" name="">
            <a:extLst xmlns:a="http://schemas.openxmlformats.org/drawingml/2006/main">
              <a:ext uri="{FF2B5EF4-FFF2-40B4-BE49-F238E27FC236}">
                <a16:creationId xmlns:a16="http://schemas.microsoft.com/office/drawing/2014/main" id="{EC2B7509-9A9A-41AF-987C-F7A4DCE10BAE}"/>
              </a:ext>
            </a:extLst>
          </p:cNvPr>
          <p:cNvSpPr>
            <a:spLocks xmlns:a="http://schemas.openxmlformats.org/drawingml/2006/main" noGrp="1"/>
          </p:cNvSpPr>
          <p:nvPr/>
        </p:nvSpPr>
        <p:spPr>
          <a:xfrm xmlns:a="http://schemas.openxmlformats.org/drawingml/2006/main">
            <a:off x="8677275" y="21621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7" name="">
            <a:extLst xmlns:a="http://schemas.openxmlformats.org/drawingml/2006/main">
              <a:ext uri="{FF2B5EF4-FFF2-40B4-BE49-F238E27FC236}">
                <a16:creationId xmlns:a16="http://schemas.microsoft.com/office/drawing/2014/main" id="{F4CDB2CA-C3E9-4105-A5F5-06DC0A9A6F1E}"/>
              </a:ext>
            </a:extLst>
          </p:cNvPr>
          <p:cNvSpPr>
            <a:spLocks xmlns:a="http://schemas.openxmlformats.org/drawingml/2006/main" noGrp="1"/>
          </p:cNvSpPr>
          <p:nvPr/>
        </p:nvSpPr>
        <p:spPr>
          <a:xfrm xmlns:a="http://schemas.openxmlformats.org/drawingml/2006/main">
            <a:off x="8677275" y="318135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8" name="">
            <a:extLst xmlns:a="http://schemas.openxmlformats.org/drawingml/2006/main">
              <a:ext uri="{FF2B5EF4-FFF2-40B4-BE49-F238E27FC236}">
                <a16:creationId xmlns:a16="http://schemas.microsoft.com/office/drawing/2014/main" id="{D84C82D2-9E92-45CF-8D58-918C9C4CAB15}"/>
              </a:ext>
            </a:extLst>
          </p:cNvPr>
          <p:cNvSpPr>
            <a:spLocks xmlns:a="http://schemas.openxmlformats.org/drawingml/2006/main" noGrp="1"/>
          </p:cNvSpPr>
          <p:nvPr/>
        </p:nvSpPr>
        <p:spPr>
          <a:xfrm xmlns:a="http://schemas.openxmlformats.org/drawingml/2006/main">
            <a:off x="8677275" y="359092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9" name="">
            <a:extLst xmlns:a="http://schemas.openxmlformats.org/drawingml/2006/main">
              <a:ext uri="{FF2B5EF4-FFF2-40B4-BE49-F238E27FC236}">
                <a16:creationId xmlns:a16="http://schemas.microsoft.com/office/drawing/2014/main" id="{FCA83083-711D-4C65-84B9-94974ABDB313}"/>
              </a:ext>
            </a:extLst>
          </p:cNvPr>
          <p:cNvSpPr>
            <a:spLocks xmlns:a="http://schemas.openxmlformats.org/drawingml/2006/main" noGrp="1"/>
          </p:cNvSpPr>
          <p:nvPr/>
        </p:nvSpPr>
        <p:spPr>
          <a:xfrm xmlns:a="http://schemas.openxmlformats.org/drawingml/2006/main">
            <a:off x="8677275" y="46101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10" name="">
            <a:extLst xmlns:a="http://schemas.openxmlformats.org/drawingml/2006/main">
              <a:ext uri="{FF2B5EF4-FFF2-40B4-BE49-F238E27FC236}">
                <a16:creationId xmlns:a16="http://schemas.microsoft.com/office/drawing/2014/main" id="{F4961A88-803E-4723-B689-A86FADE261A2}"/>
              </a:ext>
            </a:extLst>
          </p:cNvPr>
          <p:cNvSpPr>
            <a:spLocks xmlns:a="http://schemas.openxmlformats.org/drawingml/2006/main" noGrp="1"/>
          </p:cNvSpPr>
          <p:nvPr/>
        </p:nvSpPr>
        <p:spPr>
          <a:xfrm xmlns:a="http://schemas.openxmlformats.org/drawingml/2006/main">
            <a:off x="8677275" y="50196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11" name="">
            <a:extLst xmlns:a="http://schemas.openxmlformats.org/drawingml/2006/main">
              <a:ext uri="{FF2B5EF4-FFF2-40B4-BE49-F238E27FC236}">
                <a16:creationId xmlns:a16="http://schemas.microsoft.com/office/drawing/2014/main" id="{1700F614-C4C4-4742-BC3C-B98877C525D8}"/>
              </a:ext>
            </a:extLst>
          </p:cNvPr>
          <p:cNvSpPr>
            <a:spLocks xmlns:a="http://schemas.openxmlformats.org/drawingml/2006/main" noGrp="1"/>
          </p:cNvSpPr>
          <p:nvPr/>
        </p:nvSpPr>
        <p:spPr>
          <a:xfrm xmlns:a="http://schemas.openxmlformats.org/drawingml/2006/main">
            <a:off x="638175" y="59531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07F86"/>
                </a:solidFill>
                <a:latin typeface="Aptos"/>
                <a:ea typeface="Aptos"/>
                <a:cs typeface="Aptos"/>
              </a:defRPr>
            </a:pPr>
            <a:r>
              <a:rPr sz="1575" b="1">
                <a:solidFill>
                  <a:srgbClr val="007F86"/>
                </a:solidFill>
                <a:latin typeface="Aptos"/>
                <a:ea typeface="Aptos"/>
                <a:cs typeface="Aptos"/>
              </a:rPr>
              <a:t>At 10 mHz and 1064 nm: a 1 cm mismatch permits 4.67 Hz/√Hz in the illustrated envelope.</a:t>
            </a:r>
          </a:p>
          <a:p xmlns:a="http://schemas.openxmlformats.org/drawingml/2006/main">
            <a:pPr>
              <a:buNone/>
              <a:defRPr sz="1575" b="1">
                <a:solidFill>
                  <a:srgbClr val="007F86"/>
                </a:solidFill>
                <a:latin typeface="Aptos"/>
                <a:ea typeface="Aptos"/>
                <a:cs typeface="Aptos"/>
              </a:defRPr>
            </a:pPr>
            <a:r>
              <a:rPr sz="1575" b="1">
                <a:solidFill>
                  <a:srgbClr val="007F86"/>
                </a:solidFill>
                <a:latin typeface="Aptos"/>
                <a:ea typeface="Aptos"/>
                <a:cs typeface="Aptos"/>
              </a:rPr>
              <a:t>This ceiling assigns all additional PSD to frequency noise. Other terms need a smaller allocation.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bb1a25c32c943f9"/>
          <a:stretch xmlns:a="http://schemas.openxmlformats.org/drawingml/2006/main"/>
        </p:blipFill>
        <p:spPr>
          <a:xfrm xmlns:a="http://schemas.openxmlformats.org/drawingml/2006/main">
            <a:off x="1132114" y="1524000"/>
            <a:ext cx="9927771" cy="4343400"/>
          </a:xfrm>
          <a:prstGeom xmlns:a="http://schemas.openxmlformats.org/drawingml/2006/main" prst="rect">
            <a:avLst/>
          </a:prstGeom>
        </p:spPr>
      </p:pic>
    </p:spTree>
    <p:extLst>
      <p:ext uri="{BB962C8B-B14F-4D97-AF65-F5344CB8AC3E}">
        <p14:creationId xmlns:p14="http://schemas.microsoft.com/office/powerpoint/2010/main" val="33700348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8AB21F-69CA-4E2E-B7D7-A81206503A7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Readout response near the dark fringe</a:t>
            </a:r>
          </a:p>
        </p:txBody>
      </p:sp>
      <p:sp>
        <p:nvSpPr>
          <p:cNvPr id="2" name="">
            <a:extLst xmlns:a="http://schemas.openxmlformats.org/drawingml/2006/main">
              <a:ext uri="{FF2B5EF4-FFF2-40B4-BE49-F238E27FC236}">
                <a16:creationId xmlns:a16="http://schemas.microsoft.com/office/drawing/2014/main" id="{83898337-270D-495E-9508-00A371AA075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D7078"/>
                </a:solidFill>
                <a:latin typeface="Aptos"/>
                <a:ea typeface="Aptos"/>
                <a:cs typeface="Aptos"/>
              </a:defRPr>
            </a:pPr>
            <a:r>
              <a:rPr sz="1500" b="0">
                <a:solidFill>
                  <a:srgbClr val="5D7078"/>
                </a:solidFill>
                <a:latin typeface="Aptos"/>
                <a:ea typeface="Aptos"/>
                <a:cs typeface="Aptos"/>
              </a:rPr>
              <a:t>1 October 2026    Direct intensity and balanced homodyne    Ideal optical response</a:t>
            </a:r>
          </a:p>
        </p:txBody>
      </p:sp>
      <p:sp>
        <p:nvSpPr>
          <p:cNvPr id="3" name="">
            <a:extLst xmlns:a="http://schemas.openxmlformats.org/drawingml/2006/main">
              <a:ext uri="{FF2B5EF4-FFF2-40B4-BE49-F238E27FC236}">
                <a16:creationId xmlns:a16="http://schemas.microsoft.com/office/drawing/2014/main" id="{E269B9BD-0045-46D8-BF86-4E8DE785F892}"/>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B6E28D0E-F214-42D8-AD0B-C09900826F19}"/>
              </a:ext>
            </a:extLst>
          </p:cNvPr>
          <p:cNvSpPr>
            <a:spLocks xmlns:a="http://schemas.openxmlformats.org/drawingml/2006/main" noGrp="1"/>
          </p:cNvSpPr>
          <p:nvPr/>
        </p:nvSpPr>
        <p:spPr>
          <a:xfrm xmlns:a="http://schemas.openxmlformats.org/drawingml/2006/main">
            <a:off x="1905000" y="2000250"/>
            <a:ext cx="6667500" cy="30480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a:r>
          </a:p>
        </p:txBody>
      </p:sp>
      <p:sp>
        <p:nvSpPr>
          <p:cNvPr id="5" name="">
            <a:extLst xmlns:a="http://schemas.openxmlformats.org/drawingml/2006/main">
              <a:ext uri="{FF2B5EF4-FFF2-40B4-BE49-F238E27FC236}">
                <a16:creationId xmlns:a16="http://schemas.microsoft.com/office/drawing/2014/main" id="{00292AF2-DF74-4DFA-B48E-CAD3CDD385EF}"/>
              </a:ext>
            </a:extLst>
          </p:cNvPr>
          <p:cNvSpPr>
            <a:spLocks xmlns:a="http://schemas.openxmlformats.org/drawingml/2006/main" noGrp="1"/>
          </p:cNvSpPr>
          <p:nvPr/>
        </p:nvSpPr>
        <p:spPr>
          <a:xfrm xmlns:a="http://schemas.openxmlformats.org/drawingml/2006/main">
            <a:off x="8677275" y="17526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6" name="">
            <a:extLst xmlns:a="http://schemas.openxmlformats.org/drawingml/2006/main">
              <a:ext uri="{FF2B5EF4-FFF2-40B4-BE49-F238E27FC236}">
                <a16:creationId xmlns:a16="http://schemas.microsoft.com/office/drawing/2014/main" id="{EC2B7509-9A9A-41AF-987C-F7A4DCE10BAE}"/>
              </a:ext>
            </a:extLst>
          </p:cNvPr>
          <p:cNvSpPr>
            <a:spLocks xmlns:a="http://schemas.openxmlformats.org/drawingml/2006/main" noGrp="1"/>
          </p:cNvSpPr>
          <p:nvPr/>
        </p:nvSpPr>
        <p:spPr>
          <a:xfrm xmlns:a="http://schemas.openxmlformats.org/drawingml/2006/main">
            <a:off x="8677275" y="21621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7" name="">
            <a:extLst xmlns:a="http://schemas.openxmlformats.org/drawingml/2006/main">
              <a:ext uri="{FF2B5EF4-FFF2-40B4-BE49-F238E27FC236}">
                <a16:creationId xmlns:a16="http://schemas.microsoft.com/office/drawing/2014/main" id="{F4CDB2CA-C3E9-4105-A5F5-06DC0A9A6F1E}"/>
              </a:ext>
            </a:extLst>
          </p:cNvPr>
          <p:cNvSpPr>
            <a:spLocks xmlns:a="http://schemas.openxmlformats.org/drawingml/2006/main" noGrp="1"/>
          </p:cNvSpPr>
          <p:nvPr/>
        </p:nvSpPr>
        <p:spPr>
          <a:xfrm xmlns:a="http://schemas.openxmlformats.org/drawingml/2006/main">
            <a:off x="8677275" y="318135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8" name="">
            <a:extLst xmlns:a="http://schemas.openxmlformats.org/drawingml/2006/main">
              <a:ext uri="{FF2B5EF4-FFF2-40B4-BE49-F238E27FC236}">
                <a16:creationId xmlns:a16="http://schemas.microsoft.com/office/drawing/2014/main" id="{D84C82D2-9E92-45CF-8D58-918C9C4CAB15}"/>
              </a:ext>
            </a:extLst>
          </p:cNvPr>
          <p:cNvSpPr>
            <a:spLocks xmlns:a="http://schemas.openxmlformats.org/drawingml/2006/main" noGrp="1"/>
          </p:cNvSpPr>
          <p:nvPr/>
        </p:nvSpPr>
        <p:spPr>
          <a:xfrm xmlns:a="http://schemas.openxmlformats.org/drawingml/2006/main">
            <a:off x="8677275" y="359092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9" name="">
            <a:extLst xmlns:a="http://schemas.openxmlformats.org/drawingml/2006/main">
              <a:ext uri="{FF2B5EF4-FFF2-40B4-BE49-F238E27FC236}">
                <a16:creationId xmlns:a16="http://schemas.microsoft.com/office/drawing/2014/main" id="{FCA83083-711D-4C65-84B9-94974ABDB313}"/>
              </a:ext>
            </a:extLst>
          </p:cNvPr>
          <p:cNvSpPr>
            <a:spLocks xmlns:a="http://schemas.openxmlformats.org/drawingml/2006/main" noGrp="1"/>
          </p:cNvSpPr>
          <p:nvPr/>
        </p:nvSpPr>
        <p:spPr>
          <a:xfrm xmlns:a="http://schemas.openxmlformats.org/drawingml/2006/main">
            <a:off x="8677275" y="46101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10" name="">
            <a:extLst xmlns:a="http://schemas.openxmlformats.org/drawingml/2006/main">
              <a:ext uri="{FF2B5EF4-FFF2-40B4-BE49-F238E27FC236}">
                <a16:creationId xmlns:a16="http://schemas.microsoft.com/office/drawing/2014/main" id="{F4961A88-803E-4723-B689-A86FADE261A2}"/>
              </a:ext>
            </a:extLst>
          </p:cNvPr>
          <p:cNvSpPr>
            <a:spLocks xmlns:a="http://schemas.openxmlformats.org/drawingml/2006/main" noGrp="1"/>
          </p:cNvSpPr>
          <p:nvPr/>
        </p:nvSpPr>
        <p:spPr>
          <a:xfrm xmlns:a="http://schemas.openxmlformats.org/drawingml/2006/main">
            <a:off x="8677275" y="50196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11" name="">
            <a:extLst xmlns:a="http://schemas.openxmlformats.org/drawingml/2006/main">
              <a:ext uri="{FF2B5EF4-FFF2-40B4-BE49-F238E27FC236}">
                <a16:creationId xmlns:a16="http://schemas.microsoft.com/office/drawing/2014/main" id="{1700F614-C4C4-4742-BC3C-B98877C525D8}"/>
              </a:ext>
            </a:extLst>
          </p:cNvPr>
          <p:cNvSpPr>
            <a:spLocks xmlns:a="http://schemas.openxmlformats.org/drawingml/2006/main" noGrp="1"/>
          </p:cNvSpPr>
          <p:nvPr/>
        </p:nvSpPr>
        <p:spPr>
          <a:xfrm xmlns:a="http://schemas.openxmlformats.org/drawingml/2006/main">
            <a:off x="638175" y="59531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07F86"/>
                </a:solidFill>
                <a:latin typeface="Aptos"/>
                <a:ea typeface="Aptos"/>
                <a:cs typeface="Aptos"/>
              </a:defRPr>
            </a:pPr>
            <a:r>
              <a:rPr sz="1575" b="1">
                <a:solidFill>
                  <a:srgbClr val="007F86"/>
                </a:solidFill>
                <a:latin typeface="Aptos"/>
                <a:ea typeface="Aptos"/>
                <a:cs typeface="Aptos"/>
              </a:rPr>
              <a:t>Direct intensity has zero linear gain at exact dark. Homodyne retains a calibrated slope.</a:t>
            </a:r>
          </a:p>
          <a:p xmlns:a="http://schemas.openxmlformats.org/drawingml/2006/main">
            <a:pPr>
              <a:buNone/>
              <a:defRPr sz="1575" b="1">
                <a:solidFill>
                  <a:srgbClr val="007F86"/>
                </a:solidFill>
                <a:latin typeface="Aptos"/>
                <a:ea typeface="Aptos"/>
                <a:cs typeface="Aptos"/>
              </a:defRPr>
            </a:pPr>
            <a:r>
              <a:rPr sz="1575" b="1">
                <a:solidFill>
                  <a:srgbClr val="007F86"/>
                </a:solidFill>
                <a:latin typeface="Aptos"/>
                <a:ea typeface="Aptos"/>
                <a:cs typeface="Aptos"/>
              </a:rPr>
              <a:t>All three ideal readouts keep the same laser-frequency coupling for a given arm mismatch.</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b0c68e2262e48cf"/>
          <a:stretch xmlns:a="http://schemas.openxmlformats.org/drawingml/2006/main"/>
        </p:blipFill>
        <p:spPr>
          <a:xfrm xmlns:a="http://schemas.openxmlformats.org/drawingml/2006/main">
            <a:off x="1041862" y="1524000"/>
            <a:ext cx="10108276" cy="4343400"/>
          </a:xfrm>
          <a:prstGeom xmlns:a="http://schemas.openxmlformats.org/drawingml/2006/main" prst="rect">
            <a:avLst/>
          </a:prstGeom>
        </p:spPr>
      </p:pic>
    </p:spTree>
    <p:extLst>
      <p:ext uri="{BB962C8B-B14F-4D97-AF65-F5344CB8AC3E}">
        <p14:creationId xmlns:p14="http://schemas.microsoft.com/office/powerpoint/2010/main" val="3370034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8AB21F-69CA-4E2E-B7D7-A81206503A7C}"/>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Ideal shot noise depends on the readout</a:t>
            </a:r>
          </a:p>
        </p:txBody>
      </p:sp>
      <p:sp>
        <p:nvSpPr>
          <p:cNvPr id="2" name="">
            <a:extLst xmlns:a="http://schemas.openxmlformats.org/drawingml/2006/main">
              <a:ext uri="{FF2B5EF4-FFF2-40B4-BE49-F238E27FC236}">
                <a16:creationId xmlns:a16="http://schemas.microsoft.com/office/drawing/2014/main" id="{83898337-270D-495E-9508-00A371AA0754}"/>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D7078"/>
                </a:solidFill>
                <a:latin typeface="Aptos"/>
                <a:ea typeface="Aptos"/>
                <a:cs typeface="Aptos"/>
              </a:defRPr>
            </a:pPr>
            <a:r>
              <a:rPr sz="1500" b="0">
                <a:solidFill>
                  <a:srgbClr val="5D7078"/>
                </a:solidFill>
                <a:latin typeface="Aptos"/>
                <a:ea typeface="Aptos"/>
                <a:cs typeface="Aptos"/>
              </a:rPr>
              <a:t>1 October 2026    1550 nm    Hypothetical η = 0.80    Equal returning power</a:t>
            </a:r>
          </a:p>
        </p:txBody>
      </p:sp>
      <p:sp>
        <p:nvSpPr>
          <p:cNvPr id="3" name="">
            <a:extLst xmlns:a="http://schemas.openxmlformats.org/drawingml/2006/main">
              <a:ext uri="{FF2B5EF4-FFF2-40B4-BE49-F238E27FC236}">
                <a16:creationId xmlns:a16="http://schemas.microsoft.com/office/drawing/2014/main" id="{E269B9BD-0045-46D8-BF86-4E8DE785F892}"/>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24</a:t>
            </a:r>
          </a:p>
        </p:txBody>
      </p:sp>
      <p:sp>
        <p:nvSpPr>
          <p:cNvPr id="4" name="">
            <a:extLst xmlns:a="http://schemas.openxmlformats.org/drawingml/2006/main">
              <a:ext uri="{FF2B5EF4-FFF2-40B4-BE49-F238E27FC236}">
                <a16:creationId xmlns:a16="http://schemas.microsoft.com/office/drawing/2014/main" id="{B6E28D0E-F214-42D8-AD0B-C09900826F19}"/>
              </a:ext>
            </a:extLst>
          </p:cNvPr>
          <p:cNvSpPr>
            <a:spLocks xmlns:a="http://schemas.openxmlformats.org/drawingml/2006/main" noGrp="1"/>
          </p:cNvSpPr>
          <p:nvPr/>
        </p:nvSpPr>
        <p:spPr>
          <a:xfrm xmlns:a="http://schemas.openxmlformats.org/drawingml/2006/main">
            <a:off x="1905000" y="2000250"/>
            <a:ext cx="6667500" cy="3048000"/>
          </a:xfrm>
          <a:prstGeom xmlns:a="http://schemas.openxmlformats.org/drawingml/2006/main" prst="rect">
            <a:avLst/>
          </a:prstGeom>
          <a:solidFill xmlns:a="http://schemas.openxmlformats.org/drawingml/2006/main">
            <a:srgbClr val="EAF8F8"/>
          </a:solidFill>
          <a:ln xmlns:a="http://schemas.openxmlformats.org/drawingml/2006/main" w="9525">
            <a:solidFill>
              <a:srgbClr val="C6DEDF"/>
            </a:solidFill>
          </a:ln>
        </p:spPr>
        <p:txBody>
          <a:bodyPr xmlns:a="http://schemas.openxmlformats.org/drawingml/2006/main">
            <a:noAutofit/>
          </a:bodyPr>
          <a:lstStyle xmlns:a="http://schemas.openxmlformats.org/drawingml/2006/main"/>
          <a:p xmlns:a="http://schemas.openxmlformats.org/drawingml/2006/main">
            <a:pPr>
              <a:buNone/>
              <a:defRPr sz="2025" b="0">
                <a:solidFill>
                  <a:srgbClr val="5D7078"/>
                </a:solidFill>
                <a:latin typeface="Aptos"/>
                <a:ea typeface="Aptos"/>
                <a:cs typeface="Aptos"/>
              </a:defRPr>
            </a:pPr>
            <a:r>
              <a:rPr sz="2025" b="0">
                <a:solidFill>
                  <a:srgbClr val="5D7078"/>
                </a:solidFill>
                <a:latin typeface="Aptos"/>
                <a:ea typeface="Aptos"/>
                <a:cs typeface="Aptos"/>
              </a:rPr>
              <a:t/>
            </a:r>
          </a:p>
        </p:txBody>
      </p:sp>
      <p:sp>
        <p:nvSpPr>
          <p:cNvPr id="5" name="">
            <a:extLst xmlns:a="http://schemas.openxmlformats.org/drawingml/2006/main">
              <a:ext uri="{FF2B5EF4-FFF2-40B4-BE49-F238E27FC236}">
                <a16:creationId xmlns:a16="http://schemas.microsoft.com/office/drawing/2014/main" id="{00292AF2-DF74-4DFA-B48E-CAD3CDD385EF}"/>
              </a:ext>
            </a:extLst>
          </p:cNvPr>
          <p:cNvSpPr>
            <a:spLocks xmlns:a="http://schemas.openxmlformats.org/drawingml/2006/main" noGrp="1"/>
          </p:cNvSpPr>
          <p:nvPr/>
        </p:nvSpPr>
        <p:spPr>
          <a:xfrm xmlns:a="http://schemas.openxmlformats.org/drawingml/2006/main">
            <a:off x="8677275" y="17526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6" name="">
            <a:extLst xmlns:a="http://schemas.openxmlformats.org/drawingml/2006/main">
              <a:ext uri="{FF2B5EF4-FFF2-40B4-BE49-F238E27FC236}">
                <a16:creationId xmlns:a16="http://schemas.microsoft.com/office/drawing/2014/main" id="{EC2B7509-9A9A-41AF-987C-F7A4DCE10BAE}"/>
              </a:ext>
            </a:extLst>
          </p:cNvPr>
          <p:cNvSpPr>
            <a:spLocks xmlns:a="http://schemas.openxmlformats.org/drawingml/2006/main" noGrp="1"/>
          </p:cNvSpPr>
          <p:nvPr/>
        </p:nvSpPr>
        <p:spPr>
          <a:xfrm xmlns:a="http://schemas.openxmlformats.org/drawingml/2006/main">
            <a:off x="8677275" y="21621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7" name="">
            <a:extLst xmlns:a="http://schemas.openxmlformats.org/drawingml/2006/main">
              <a:ext uri="{FF2B5EF4-FFF2-40B4-BE49-F238E27FC236}">
                <a16:creationId xmlns:a16="http://schemas.microsoft.com/office/drawing/2014/main" id="{F4CDB2CA-C3E9-4105-A5F5-06DC0A9A6F1E}"/>
              </a:ext>
            </a:extLst>
          </p:cNvPr>
          <p:cNvSpPr>
            <a:spLocks xmlns:a="http://schemas.openxmlformats.org/drawingml/2006/main" noGrp="1"/>
          </p:cNvSpPr>
          <p:nvPr/>
        </p:nvSpPr>
        <p:spPr>
          <a:xfrm xmlns:a="http://schemas.openxmlformats.org/drawingml/2006/main">
            <a:off x="8677275" y="318135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8" name="">
            <a:extLst xmlns:a="http://schemas.openxmlformats.org/drawingml/2006/main">
              <a:ext uri="{FF2B5EF4-FFF2-40B4-BE49-F238E27FC236}">
                <a16:creationId xmlns:a16="http://schemas.microsoft.com/office/drawing/2014/main" id="{D84C82D2-9E92-45CF-8D58-918C9C4CAB15}"/>
              </a:ext>
            </a:extLst>
          </p:cNvPr>
          <p:cNvSpPr>
            <a:spLocks xmlns:a="http://schemas.openxmlformats.org/drawingml/2006/main" noGrp="1"/>
          </p:cNvSpPr>
          <p:nvPr/>
        </p:nvSpPr>
        <p:spPr>
          <a:xfrm xmlns:a="http://schemas.openxmlformats.org/drawingml/2006/main">
            <a:off x="8677275" y="359092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9" name="">
            <a:extLst xmlns:a="http://schemas.openxmlformats.org/drawingml/2006/main">
              <a:ext uri="{FF2B5EF4-FFF2-40B4-BE49-F238E27FC236}">
                <a16:creationId xmlns:a16="http://schemas.microsoft.com/office/drawing/2014/main" id="{FCA83083-711D-4C65-84B9-94974ABDB313}"/>
              </a:ext>
            </a:extLst>
          </p:cNvPr>
          <p:cNvSpPr>
            <a:spLocks xmlns:a="http://schemas.openxmlformats.org/drawingml/2006/main" noGrp="1"/>
          </p:cNvSpPr>
          <p:nvPr/>
        </p:nvSpPr>
        <p:spPr>
          <a:xfrm xmlns:a="http://schemas.openxmlformats.org/drawingml/2006/main">
            <a:off x="8677275" y="4610100"/>
            <a:ext cx="2981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F86"/>
                </a:solidFill>
                <a:latin typeface="Aptos"/>
                <a:ea typeface="Aptos"/>
                <a:cs typeface="Aptos"/>
              </a:defRPr>
            </a:pPr>
            <a:r>
              <a:rPr sz="1875" b="1">
                <a:solidFill>
                  <a:srgbClr val="007F86"/>
                </a:solidFill>
                <a:latin typeface="Aptos"/>
                <a:ea typeface="Aptos"/>
                <a:cs typeface="Aptos"/>
              </a:rPr>
              <a:t/>
            </a:r>
          </a:p>
        </p:txBody>
      </p:sp>
      <p:sp>
        <p:nvSpPr>
          <p:cNvPr id="10" name="">
            <a:extLst xmlns:a="http://schemas.openxmlformats.org/drawingml/2006/main">
              <a:ext uri="{FF2B5EF4-FFF2-40B4-BE49-F238E27FC236}">
                <a16:creationId xmlns:a16="http://schemas.microsoft.com/office/drawing/2014/main" id="{F4961A88-803E-4723-B689-A86FADE261A2}"/>
              </a:ext>
            </a:extLst>
          </p:cNvPr>
          <p:cNvSpPr>
            <a:spLocks xmlns:a="http://schemas.openxmlformats.org/drawingml/2006/main" noGrp="1"/>
          </p:cNvSpPr>
          <p:nvPr/>
        </p:nvSpPr>
        <p:spPr>
          <a:xfrm xmlns:a="http://schemas.openxmlformats.org/drawingml/2006/main">
            <a:off x="8677275" y="5019675"/>
            <a:ext cx="2981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43E"/>
                </a:solidFill>
                <a:latin typeface="Aptos"/>
                <a:ea typeface="Aptos"/>
                <a:cs typeface="Aptos"/>
              </a:defRPr>
            </a:pPr>
            <a:r>
              <a:rPr sz="1950" b="0">
                <a:solidFill>
                  <a:srgbClr val="17343E"/>
                </a:solidFill>
                <a:latin typeface="Aptos"/>
                <a:ea typeface="Aptos"/>
                <a:cs typeface="Aptos"/>
              </a:rPr>
              <a:t/>
            </a:r>
          </a:p>
        </p:txBody>
      </p:sp>
      <p:sp>
        <p:nvSpPr>
          <p:cNvPr id="11" name="">
            <a:extLst xmlns:a="http://schemas.openxmlformats.org/drawingml/2006/main">
              <a:ext uri="{FF2B5EF4-FFF2-40B4-BE49-F238E27FC236}">
                <a16:creationId xmlns:a16="http://schemas.microsoft.com/office/drawing/2014/main" id="{1700F614-C4C4-4742-BC3C-B98877C525D8}"/>
              </a:ext>
            </a:extLst>
          </p:cNvPr>
          <p:cNvSpPr>
            <a:spLocks xmlns:a="http://schemas.openxmlformats.org/drawingml/2006/main" noGrp="1"/>
          </p:cNvSpPr>
          <p:nvPr/>
        </p:nvSpPr>
        <p:spPr>
          <a:xfrm xmlns:a="http://schemas.openxmlformats.org/drawingml/2006/main">
            <a:off x="638175" y="59531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07F86"/>
                </a:solidFill>
                <a:latin typeface="Aptos"/>
                <a:ea typeface="Aptos"/>
                <a:cs typeface="Aptos"/>
              </a:defRPr>
            </a:pPr>
            <a:r>
              <a:rPr sz="1575" b="1">
                <a:solidFill>
                  <a:srgbClr val="007F86"/>
                </a:solidFill>
                <a:latin typeface="Aptos"/>
                <a:ea typeface="Aptos"/>
                <a:cs typeface="Aptos"/>
              </a:rPr>
              <a:t>At 100 nW: direct quadrature and single-tone heterodyne give 3.12 × 10⁻¹³ m/√Hz.</a:t>
            </a:r>
          </a:p>
          <a:p xmlns:a="http://schemas.openxmlformats.org/drawingml/2006/main">
            <a:pPr>
              <a:buNone/>
              <a:defRPr sz="1575" b="1">
                <a:solidFill>
                  <a:srgbClr val="007F86"/>
                </a:solidFill>
                <a:latin typeface="Aptos"/>
                <a:ea typeface="Aptos"/>
                <a:cs typeface="Aptos"/>
              </a:defRPr>
            </a:pPr>
            <a:r>
              <a:rPr sz="1575" b="1">
                <a:solidFill>
                  <a:srgbClr val="007F86"/>
                </a:solidFill>
                <a:latin typeface="Aptos"/>
                <a:ea typeface="Aptos"/>
                <a:cs typeface="Aptos"/>
              </a:rPr>
              <a:t>Balanced homodyne at dark gives 2.21 × 10⁻¹³ m/√Hz. Actual APD noise remains unknown.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c062d76fbd84d6e"/>
          <a:stretch xmlns:a="http://schemas.openxmlformats.org/drawingml/2006/main"/>
        </p:blipFill>
        <p:spPr>
          <a:xfrm xmlns:a="http://schemas.openxmlformats.org/drawingml/2006/main">
            <a:off x="1219200" y="1524000"/>
            <a:ext cx="9753600" cy="4343400"/>
          </a:xfrm>
          <a:prstGeom xmlns:a="http://schemas.openxmlformats.org/drawingml/2006/main" prst="rect">
            <a:avLst/>
          </a:prstGeom>
        </p:spPr>
      </p:pic>
    </p:spTree>
    <p:extLst>
      <p:ext uri="{BB962C8B-B14F-4D97-AF65-F5344CB8AC3E}">
        <p14:creationId xmlns:p14="http://schemas.microsoft.com/office/powerpoint/2010/main" val="33700348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AF330A-7F13-48FA-AEFF-CBB2117B3283}"/>
              </a:ext>
            </a:extLst>
          </p:cNvPr>
          <p:cNvSpPr>
            <a:spLocks xmlns:a="http://schemas.openxmlformats.org/drawingml/2006/main" noGrp="1"/>
          </p:cNvSpPr>
          <p:nvPr/>
        </p:nvSpPr>
        <p:spPr>
          <a:xfrm xmlns:a="http://schemas.openxmlformats.org/drawingml/2006/main">
            <a:off x="533400" y="3619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7F86"/>
                </a:solidFill>
                <a:latin typeface="Aptos"/>
                <a:ea typeface="Aptos"/>
                <a:cs typeface="Aptos"/>
              </a:defRPr>
            </a:pPr>
            <a:r>
              <a:rPr sz="3150" b="1">
                <a:solidFill>
                  <a:srgbClr val="007F86"/>
                </a:solidFill>
                <a:latin typeface="Aptos"/>
                <a:ea typeface="Aptos"/>
                <a:cs typeface="Aptos"/>
              </a:rPr>
              <a:t>Next calculations and missing inputs</a:t>
            </a:r>
          </a:p>
        </p:txBody>
      </p:sp>
      <p:sp>
        <p:nvSpPr>
          <p:cNvPr id="2" name="">
            <a:extLst xmlns:a="http://schemas.openxmlformats.org/drawingml/2006/main">
              <a:ext uri="{FF2B5EF4-FFF2-40B4-BE49-F238E27FC236}">
                <a16:creationId xmlns:a16="http://schemas.microsoft.com/office/drawing/2014/main" id="{2D233720-5797-464A-99D2-AD2582A536B7}"/>
              </a:ext>
            </a:extLst>
          </p:cNvPr>
          <p:cNvSpPr>
            <a:spLocks xmlns:a="http://schemas.openxmlformats.org/drawingml/2006/main" noGrp="1"/>
          </p:cNvSpPr>
          <p:nvPr/>
        </p:nvSpPr>
        <p:spPr>
          <a:xfrm xmlns:a="http://schemas.openxmlformats.org/drawingml/2006/main">
            <a:off x="552450" y="10287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D7078"/>
                </a:solidFill>
                <a:latin typeface="Aptos"/>
                <a:ea typeface="Aptos"/>
                <a:cs typeface="Aptos"/>
              </a:defRPr>
            </a:pPr>
            <a:r>
              <a:rPr sz="1575" b="0">
                <a:solidFill>
                  <a:srgbClr val="5D7078"/>
                </a:solidFill>
                <a:latin typeface="Aptos"/>
                <a:ea typeface="Aptos"/>
                <a:cs typeface="Aptos"/>
              </a:rPr>
              <a:t>1 October 2026    Kaylah McGowan    Analytic calculation review</a:t>
            </a:r>
          </a:p>
        </p:txBody>
      </p:sp>
      <p:sp>
        <p:nvSpPr>
          <p:cNvPr id="3" name="">
            <a:extLst xmlns:a="http://schemas.openxmlformats.org/drawingml/2006/main">
              <a:ext uri="{FF2B5EF4-FFF2-40B4-BE49-F238E27FC236}">
                <a16:creationId xmlns:a16="http://schemas.microsoft.com/office/drawing/2014/main" id="{DF158533-4DAF-467A-AD38-851435C7320D}"/>
              </a:ext>
            </a:extLst>
          </p:cNvPr>
          <p:cNvSpPr>
            <a:spLocks xmlns:a="http://schemas.openxmlformats.org/drawingml/2006/main" noGrp="1"/>
          </p:cNvSpPr>
          <p:nvPr/>
        </p:nvSpPr>
        <p:spPr>
          <a:xfrm xmlns:a="http://schemas.openxmlformats.org/drawingml/2006/main">
            <a:off x="1114425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D7078"/>
                </a:solidFill>
                <a:latin typeface="Aptos"/>
                <a:ea typeface="Aptos"/>
                <a:cs typeface="Aptos"/>
              </a:defRPr>
            </a:pPr>
            <a:r>
              <a:rPr sz="1200" b="0">
                <a:solidFill>
                  <a:srgbClr val="5D7078"/>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824BC896-0A54-4D4D-9915-5C790C44F35B}"/>
              </a:ext>
            </a:extLst>
          </p:cNvPr>
          <p:cNvSpPr>
            <a:spLocks xmlns:a="http://schemas.openxmlformats.org/drawingml/2006/main" noGrp="1"/>
          </p:cNvSpPr>
          <p:nvPr/>
        </p:nvSpPr>
        <p:spPr>
          <a:xfrm xmlns:a="http://schemas.openxmlformats.org/drawingml/2006/main">
            <a:off x="542925" y="16478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Optical validation</a:t>
            </a:r>
          </a:p>
        </p:txBody>
      </p:sp>
      <p:sp>
        <p:nvSpPr>
          <p:cNvPr id="5" name="">
            <a:extLst xmlns:a="http://schemas.openxmlformats.org/drawingml/2006/main">
              <a:ext uri="{FF2B5EF4-FFF2-40B4-BE49-F238E27FC236}">
                <a16:creationId xmlns:a16="http://schemas.microsoft.com/office/drawing/2014/main" id="{82460D1D-7B13-45F7-8044-583551B15D0E}"/>
              </a:ext>
            </a:extLst>
          </p:cNvPr>
          <p:cNvSpPr>
            <a:spLocks xmlns:a="http://schemas.openxmlformats.org/drawingml/2006/main" noGrp="1"/>
          </p:cNvSpPr>
          <p:nvPr/>
        </p:nvSpPr>
        <p:spPr>
          <a:xfrm xmlns:a="http://schemas.openxmlformats.org/drawingml/2006/main">
            <a:off x="542925" y="2095500"/>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Run direct and homodyne cases in Finesse. Compare displacement and laser-frequency gains with the analytic benchmarks.</a:t>
            </a:r>
          </a:p>
        </p:txBody>
      </p:sp>
      <p:sp>
        <p:nvSpPr>
          <p:cNvPr id="6" name="">
            <a:extLst xmlns:a="http://schemas.openxmlformats.org/drawingml/2006/main">
              <a:ext uri="{FF2B5EF4-FFF2-40B4-BE49-F238E27FC236}">
                <a16:creationId xmlns:a16="http://schemas.microsoft.com/office/drawing/2014/main" id="{B9EB2A74-1CE9-496C-B009-B562BEA7B9A1}"/>
              </a:ext>
            </a:extLst>
          </p:cNvPr>
          <p:cNvSpPr>
            <a:spLocks xmlns:a="http://schemas.openxmlformats.org/drawingml/2006/main" noGrp="1"/>
          </p:cNvSpPr>
          <p:nvPr/>
        </p:nvSpPr>
        <p:spPr>
          <a:xfrm xmlns:a="http://schemas.openxmlformats.org/drawingml/2006/main">
            <a:off x="6486525" y="16478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Detector and laser inputs</a:t>
            </a:r>
          </a:p>
        </p:txBody>
      </p:sp>
      <p:sp>
        <p:nvSpPr>
          <p:cNvPr id="7" name="">
            <a:extLst xmlns:a="http://schemas.openxmlformats.org/drawingml/2006/main">
              <a:ext uri="{FF2B5EF4-FFF2-40B4-BE49-F238E27FC236}">
                <a16:creationId xmlns:a16="http://schemas.microsoft.com/office/drawing/2014/main" id="{E9B21F4B-649D-4AD5-938B-C8E050AE8206}"/>
              </a:ext>
            </a:extLst>
          </p:cNvPr>
          <p:cNvSpPr>
            <a:spLocks xmlns:a="http://schemas.openxmlformats.org/drawingml/2006/main" noGrp="1"/>
          </p:cNvSpPr>
          <p:nvPr/>
        </p:nvSpPr>
        <p:spPr>
          <a:xfrm xmlns:a="http://schemas.openxmlformats.org/drawingml/2006/main">
            <a:off x="6486525" y="2095500"/>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Confirm returned power, visibility and APD gain. Obtain detector noise and laser-frequency spectra for the relevant bands.</a:t>
            </a:r>
          </a:p>
        </p:txBody>
      </p:sp>
      <p:sp>
        <p:nvSpPr>
          <p:cNvPr id="8" name="">
            <a:extLst xmlns:a="http://schemas.openxmlformats.org/drawingml/2006/main">
              <a:ext uri="{FF2B5EF4-FFF2-40B4-BE49-F238E27FC236}">
                <a16:creationId xmlns:a16="http://schemas.microsoft.com/office/drawing/2014/main" id="{E8CB9AD6-9FB6-4123-B222-92A01B401F9C}"/>
              </a:ext>
            </a:extLst>
          </p:cNvPr>
          <p:cNvSpPr>
            <a:spLocks xmlns:a="http://schemas.openxmlformats.org/drawingml/2006/main" noGrp="1"/>
          </p:cNvSpPr>
          <p:nvPr/>
        </p:nvSpPr>
        <p:spPr>
          <a:xfrm xmlns:a="http://schemas.openxmlformats.org/drawingml/2006/main">
            <a:off x="542925" y="38195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Seismic coupling</a:t>
            </a:r>
          </a:p>
        </p:txBody>
      </p:sp>
      <p:sp>
        <p:nvSpPr>
          <p:cNvPr id="9" name="">
            <a:extLst xmlns:a="http://schemas.openxmlformats.org/drawingml/2006/main">
              <a:ext uri="{FF2B5EF4-FFF2-40B4-BE49-F238E27FC236}">
                <a16:creationId xmlns:a16="http://schemas.microsoft.com/office/drawing/2014/main" id="{F0822A15-5449-4123-BB1B-99CD79F74143}"/>
              </a:ext>
            </a:extLst>
          </p:cNvPr>
          <p:cNvSpPr>
            <a:spLocks xmlns:a="http://schemas.openxmlformats.org/drawingml/2006/main" noGrp="1"/>
          </p:cNvSpPr>
          <p:nvPr/>
        </p:nvSpPr>
        <p:spPr>
          <a:xfrm xmlns:a="http://schemas.openxmlformats.org/drawingml/2006/main">
            <a:off x="542925" y="4267200"/>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Specify ground-motion spectra, station coherence and support response. Retain cross spectra where motion is correlated.</a:t>
            </a:r>
          </a:p>
        </p:txBody>
      </p:sp>
      <p:sp>
        <p:nvSpPr>
          <p:cNvPr id="10" name="">
            <a:extLst xmlns:a="http://schemas.openxmlformats.org/drawingml/2006/main">
              <a:ext uri="{FF2B5EF4-FFF2-40B4-BE49-F238E27FC236}">
                <a16:creationId xmlns:a16="http://schemas.microsoft.com/office/drawing/2014/main" id="{BE0F12F2-572F-4C1F-94F7-2DB3D050CA72}"/>
              </a:ext>
            </a:extLst>
          </p:cNvPr>
          <p:cNvSpPr>
            <a:spLocks xmlns:a="http://schemas.openxmlformats.org/drawingml/2006/main" noGrp="1"/>
          </p:cNvSpPr>
          <p:nvPr/>
        </p:nvSpPr>
        <p:spPr>
          <a:xfrm xmlns:a="http://schemas.openxmlformats.org/drawingml/2006/main">
            <a:off x="6486525" y="38195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7F86"/>
                </a:solidFill>
                <a:latin typeface="Aptos"/>
                <a:ea typeface="Aptos"/>
                <a:cs typeface="Aptos"/>
              </a:defRPr>
            </a:pPr>
            <a:r>
              <a:rPr sz="2025" b="1">
                <a:solidFill>
                  <a:srgbClr val="007F86"/>
                </a:solidFill>
                <a:latin typeface="Aptos"/>
                <a:ea typeface="Aptos"/>
                <a:cs typeface="Aptos"/>
              </a:rPr>
              <a:t>Lunar response and SNR</a:t>
            </a:r>
          </a:p>
        </p:txBody>
      </p:sp>
      <p:sp>
        <p:nvSpPr>
          <p:cNvPr id="11" name="">
            <a:extLst xmlns:a="http://schemas.openxmlformats.org/drawingml/2006/main">
              <a:ext uri="{FF2B5EF4-FFF2-40B4-BE49-F238E27FC236}">
                <a16:creationId xmlns:a16="http://schemas.microsoft.com/office/drawing/2014/main" id="{58B04D9C-AF53-418D-8236-E5E045F15456}"/>
              </a:ext>
            </a:extLst>
          </p:cNvPr>
          <p:cNvSpPr>
            <a:spLocks xmlns:a="http://schemas.openxmlformats.org/drawingml/2006/main" noGrp="1"/>
          </p:cNvSpPr>
          <p:nvPr/>
        </p:nvSpPr>
        <p:spPr>
          <a:xfrm xmlns:a="http://schemas.openxmlformats.org/drawingml/2006/main">
            <a:off x="6486525" y="4267200"/>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43E"/>
                </a:solidFill>
                <a:latin typeface="Aptos"/>
                <a:ea typeface="Aptos"/>
                <a:cs typeface="Aptos"/>
              </a:defRPr>
            </a:pPr>
            <a:r>
              <a:rPr sz="1875" b="0">
                <a:solidFill>
                  <a:srgbClr val="17343E"/>
                </a:solidFill>
                <a:latin typeface="Aptos"/>
                <a:ea typeface="Aptos"/>
                <a:cs typeface="Aptos"/>
              </a:rPr>
              <a:t>Obtain the numerical mode table and response convention. Then evaluate explicit source, distance and observation-time cases.</a:t>
            </a:r>
          </a:p>
        </p:txBody>
      </p:sp>
      <p:sp>
        <p:nvSpPr>
          <p:cNvPr id="13" name="">
            <a:extLst xmlns:a="http://schemas.openxmlformats.org/drawingml/2006/main">
              <a:ext uri="{FF2B5EF4-FFF2-40B4-BE49-F238E27FC236}">
                <a16:creationId xmlns:a16="http://schemas.microsoft.com/office/drawing/2014/main" id="{13BBD766-EACD-4DCF-B08D-B4B61C2D9E19}"/>
              </a:ext>
            </a:extLst>
          </p:cNvPr>
          <p:cNvSpPr>
            <a:spLocks xmlns:a="http://schemas.openxmlformats.org/drawingml/2006/main" noGrp="1"/>
          </p:cNvSpPr>
          <p:nvPr/>
        </p:nvSpPr>
        <p:spPr>
          <a:xfrm xmlns:a="http://schemas.openxmlformats.org/drawingml/2006/main">
            <a:off x="638175" y="6010275"/>
            <a:ext cx="10620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07F86"/>
                </a:solidFill>
                <a:latin typeface="Aptos"/>
                <a:ea typeface="Aptos"/>
                <a:cs typeface="Aptos"/>
              </a:defRPr>
            </a:pPr>
            <a:r>
              <a:rPr sz="1500" b="1">
                <a:solidFill>
                  <a:srgbClr val="007F86"/>
                </a:solidFill>
                <a:latin typeface="Aptos"/>
                <a:ea typeface="Aptos"/>
                <a:cs typeface="Aptos"/>
              </a:rPr>
              <a:t>Both readout branches remain open. Current results establish conditional limits rather than achievable instrument sensitivity.</a:t>
            </a:r>
          </a:p>
        </p:txBody>
      </p:sp>
    </p:spTree>
    <p:extLst>
      <p:ext uri="{BB962C8B-B14F-4D97-AF65-F5344CB8AC3E}">
        <p14:creationId xmlns:p14="http://schemas.microsoft.com/office/powerpoint/2010/main" val="330883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2026-10-01T14:00:20.2820000Z</dcterms:created>
  <dcterms:modified xsi:type="dcterms:W3CDTF">2026-10-01T14:00:20.2820000Z</dcterms:modified>
</coreProperties>
</file>